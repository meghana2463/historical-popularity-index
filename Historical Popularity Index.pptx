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258" r:id="rId4"/>
    <p:sldId id="259" r:id="rId5"/>
    <p:sldId id="260" r:id="rId6"/>
    <p:sldId id="283" r:id="rId7"/>
    <p:sldId id="261" r:id="rId8"/>
    <p:sldId id="262" r:id="rId9"/>
    <p:sldId id="282" r:id="rId10"/>
    <p:sldId id="263" r:id="rId11"/>
    <p:sldId id="264" r:id="rId12"/>
    <p:sldId id="287" r:id="rId13"/>
    <p:sldId id="284" r:id="rId14"/>
    <p:sldId id="285" r:id="rId15"/>
    <p:sldId id="286" r:id="rId16"/>
    <p:sldId id="289" r:id="rId17"/>
    <p:sldId id="288" r:id="rId18"/>
    <p:sldId id="290" r:id="rId19"/>
    <p:sldId id="291" r:id="rId20"/>
    <p:sldId id="292" r:id="rId21"/>
    <p:sldId id="281" r:id="rId22"/>
  </p:sldIdLst>
  <p:sldSz cx="9144000" cy="5143500" type="screen16x9"/>
  <p:notesSz cx="9144000" cy="5143500"/>
  <p:defaultTextStyle>
    <a:defPPr>
      <a:defRPr kern="0"/>
    </a:defPPr>
  </p:defaultTextStyle>
  <p:extLst>
    <p:ext uri="{521415D9-36F7-43E2-AB2F-B90AF26B5E84}">
      <p14:sectionLst xmlns:p14="http://schemas.microsoft.com/office/powerpoint/2010/main">
        <p14:section name="Default Section" id="{A00DCB39-3637-485D-8802-B4A6D80964C0}">
          <p14:sldIdLst>
            <p14:sldId id="256"/>
            <p14:sldId id="257"/>
            <p14:sldId id="258"/>
            <p14:sldId id="259"/>
            <p14:sldId id="260"/>
            <p14:sldId id="283"/>
            <p14:sldId id="261"/>
            <p14:sldId id="262"/>
          </p14:sldIdLst>
        </p14:section>
        <p14:section name="Untitled Section" id="{9CB33263-5779-4E31-9A7E-3E7E227ABC26}">
          <p14:sldIdLst>
            <p14:sldId id="282"/>
            <p14:sldId id="263"/>
          </p14:sldIdLst>
        </p14:section>
        <p14:section name="Untitled Section" id="{1A757878-AD4D-429E-BF86-E29B48290B1F}">
          <p14:sldIdLst>
            <p14:sldId id="264"/>
            <p14:sldId id="287"/>
            <p14:sldId id="284"/>
            <p14:sldId id="285"/>
            <p14:sldId id="286"/>
            <p14:sldId id="289"/>
            <p14:sldId id="288"/>
            <p14:sldId id="290"/>
            <p14:sldId id="291"/>
            <p14:sldId id="292"/>
            <p14:sldId id="281"/>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A6EACA-AE62-4DAA-A1F0-63545B925398}" v="41" dt="2026-01-15T07:11:04.657"/>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7" d="100"/>
          <a:sy n="87" d="100"/>
        </p:scale>
        <p:origin x="680" y="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ghana ch" userId="418f84716d9582cf" providerId="LiveId" clId="{668E43EC-68E9-4D12-8265-5156137010FE}"/>
    <pc:docChg chg="undo custSel addSld delSld modSld sldOrd modSection">
      <pc:chgData name="Meghana ch" userId="418f84716d9582cf" providerId="LiveId" clId="{668E43EC-68E9-4D12-8265-5156137010FE}" dt="2026-01-15T07:20:13.942" v="1539" actId="1076"/>
      <pc:docMkLst>
        <pc:docMk/>
      </pc:docMkLst>
      <pc:sldChg chg="modSp mod">
        <pc:chgData name="Meghana ch" userId="418f84716d9582cf" providerId="LiveId" clId="{668E43EC-68E9-4D12-8265-5156137010FE}" dt="2026-01-15T07:20:13.942" v="1539" actId="1076"/>
        <pc:sldMkLst>
          <pc:docMk/>
          <pc:sldMk cId="0" sldId="257"/>
        </pc:sldMkLst>
        <pc:spChg chg="mod">
          <ac:chgData name="Meghana ch" userId="418f84716d9582cf" providerId="LiveId" clId="{668E43EC-68E9-4D12-8265-5156137010FE}" dt="2026-01-15T07:14:49.218" v="1504" actId="1076"/>
          <ac:spMkLst>
            <pc:docMk/>
            <pc:sldMk cId="0" sldId="257"/>
            <ac:spMk id="2" creationId="{00000000-0000-0000-0000-000000000000}"/>
          </ac:spMkLst>
        </pc:spChg>
        <pc:spChg chg="mod">
          <ac:chgData name="Meghana ch" userId="418f84716d9582cf" providerId="LiveId" clId="{668E43EC-68E9-4D12-8265-5156137010FE}" dt="2026-01-15T07:20:13.942" v="1539" actId="1076"/>
          <ac:spMkLst>
            <pc:docMk/>
            <pc:sldMk cId="0" sldId="257"/>
            <ac:spMk id="3" creationId="{00000000-0000-0000-0000-000000000000}"/>
          </ac:spMkLst>
        </pc:spChg>
        <pc:spChg chg="mod">
          <ac:chgData name="Meghana ch" userId="418f84716d9582cf" providerId="LiveId" clId="{668E43EC-68E9-4D12-8265-5156137010FE}" dt="2026-01-15T07:15:20.158" v="1508" actId="1076"/>
          <ac:spMkLst>
            <pc:docMk/>
            <pc:sldMk cId="0" sldId="257"/>
            <ac:spMk id="4" creationId="{00000000-0000-0000-0000-000000000000}"/>
          </ac:spMkLst>
        </pc:spChg>
      </pc:sldChg>
      <pc:sldChg chg="modSp mod">
        <pc:chgData name="Meghana ch" userId="418f84716d9582cf" providerId="LiveId" clId="{668E43EC-68E9-4D12-8265-5156137010FE}" dt="2026-01-15T07:19:02.929" v="1529" actId="20577"/>
        <pc:sldMkLst>
          <pc:docMk/>
          <pc:sldMk cId="0" sldId="258"/>
        </pc:sldMkLst>
        <pc:spChg chg="mod">
          <ac:chgData name="Meghana ch" userId="418f84716d9582cf" providerId="LiveId" clId="{668E43EC-68E9-4D12-8265-5156137010FE}" dt="2026-01-07T11:42:07.220" v="644" actId="1076"/>
          <ac:spMkLst>
            <pc:docMk/>
            <pc:sldMk cId="0" sldId="258"/>
            <ac:spMk id="2" creationId="{00000000-0000-0000-0000-000000000000}"/>
          </ac:spMkLst>
        </pc:spChg>
        <pc:spChg chg="mod">
          <ac:chgData name="Meghana ch" userId="418f84716d9582cf" providerId="LiveId" clId="{668E43EC-68E9-4D12-8265-5156137010FE}" dt="2026-01-07T11:48:37.578" v="975" actId="14100"/>
          <ac:spMkLst>
            <pc:docMk/>
            <pc:sldMk cId="0" sldId="258"/>
            <ac:spMk id="3" creationId="{00000000-0000-0000-0000-000000000000}"/>
          </ac:spMkLst>
        </pc:spChg>
        <pc:spChg chg="mod">
          <ac:chgData name="Meghana ch" userId="418f84716d9582cf" providerId="LiveId" clId="{668E43EC-68E9-4D12-8265-5156137010FE}" dt="2026-01-15T07:19:02.929" v="1529" actId="20577"/>
          <ac:spMkLst>
            <pc:docMk/>
            <pc:sldMk cId="0" sldId="258"/>
            <ac:spMk id="4" creationId="{00000000-0000-0000-0000-000000000000}"/>
          </ac:spMkLst>
        </pc:spChg>
      </pc:sldChg>
      <pc:sldChg chg="modSp mod">
        <pc:chgData name="Meghana ch" userId="418f84716d9582cf" providerId="LiveId" clId="{668E43EC-68E9-4D12-8265-5156137010FE}" dt="2026-01-07T11:52:23.728" v="985" actId="1076"/>
        <pc:sldMkLst>
          <pc:docMk/>
          <pc:sldMk cId="0" sldId="259"/>
        </pc:sldMkLst>
        <pc:spChg chg="mod">
          <ac:chgData name="Meghana ch" userId="418f84716d9582cf" providerId="LiveId" clId="{668E43EC-68E9-4D12-8265-5156137010FE}" dt="2026-01-07T11:49:25.736" v="984" actId="14100"/>
          <ac:spMkLst>
            <pc:docMk/>
            <pc:sldMk cId="0" sldId="259"/>
            <ac:spMk id="8" creationId="{D5B6D655-3A27-AF3C-C35E-74FBFDA2DCF3}"/>
          </ac:spMkLst>
        </pc:spChg>
        <pc:spChg chg="mod">
          <ac:chgData name="Meghana ch" userId="418f84716d9582cf" providerId="LiveId" clId="{668E43EC-68E9-4D12-8265-5156137010FE}" dt="2026-01-07T11:52:23.728" v="985" actId="1076"/>
          <ac:spMkLst>
            <pc:docMk/>
            <pc:sldMk cId="0" sldId="259"/>
            <ac:spMk id="9" creationId="{2E030E16-7B2C-4A05-BC89-C847D6696B3D}"/>
          </ac:spMkLst>
        </pc:spChg>
      </pc:sldChg>
      <pc:sldChg chg="modSp mod">
        <pc:chgData name="Meghana ch" userId="418f84716d9582cf" providerId="LiveId" clId="{668E43EC-68E9-4D12-8265-5156137010FE}" dt="2026-01-05T07:10:53.160" v="2" actId="1076"/>
        <pc:sldMkLst>
          <pc:docMk/>
          <pc:sldMk cId="0" sldId="261"/>
        </pc:sldMkLst>
        <pc:spChg chg="mod">
          <ac:chgData name="Meghana ch" userId="418f84716d9582cf" providerId="LiveId" clId="{668E43EC-68E9-4D12-8265-5156137010FE}" dt="2026-01-05T07:10:53.160" v="2" actId="1076"/>
          <ac:spMkLst>
            <pc:docMk/>
            <pc:sldMk cId="0" sldId="261"/>
            <ac:spMk id="2" creationId="{00000000-0000-0000-0000-000000000000}"/>
          </ac:spMkLst>
        </pc:spChg>
      </pc:sldChg>
      <pc:sldChg chg="modSp mod">
        <pc:chgData name="Meghana ch" userId="418f84716d9582cf" providerId="LiveId" clId="{668E43EC-68E9-4D12-8265-5156137010FE}" dt="2026-01-07T11:53:26.211" v="992" actId="14100"/>
        <pc:sldMkLst>
          <pc:docMk/>
          <pc:sldMk cId="0" sldId="262"/>
        </pc:sldMkLst>
        <pc:spChg chg="mod">
          <ac:chgData name="Meghana ch" userId="418f84716d9582cf" providerId="LiveId" clId="{668E43EC-68E9-4D12-8265-5156137010FE}" dt="2026-01-07T11:53:26.211" v="992" actId="14100"/>
          <ac:spMkLst>
            <pc:docMk/>
            <pc:sldMk cId="0" sldId="262"/>
            <ac:spMk id="2" creationId="{00000000-0000-0000-0000-000000000000}"/>
          </ac:spMkLst>
        </pc:spChg>
      </pc:sldChg>
      <pc:sldChg chg="addSp delSp modSp mod">
        <pc:chgData name="Meghana ch" userId="418f84716d9582cf" providerId="LiveId" clId="{668E43EC-68E9-4D12-8265-5156137010FE}" dt="2026-01-07T07:50:13.943" v="601" actId="1076"/>
        <pc:sldMkLst>
          <pc:docMk/>
          <pc:sldMk cId="0" sldId="263"/>
        </pc:sldMkLst>
        <pc:spChg chg="add mod">
          <ac:chgData name="Meghana ch" userId="418f84716d9582cf" providerId="LiveId" clId="{668E43EC-68E9-4D12-8265-5156137010FE}" dt="2026-01-07T07:50:07.401" v="600" actId="2711"/>
          <ac:spMkLst>
            <pc:docMk/>
            <pc:sldMk cId="0" sldId="263"/>
            <ac:spMk id="8" creationId="{5F725654-A68C-BAEB-A5B8-09605CEE6E32}"/>
          </ac:spMkLst>
        </pc:spChg>
        <pc:grpChg chg="mod">
          <ac:chgData name="Meghana ch" userId="418f84716d9582cf" providerId="LiveId" clId="{668E43EC-68E9-4D12-8265-5156137010FE}" dt="2026-01-07T07:50:13.943" v="601" actId="1076"/>
          <ac:grpSpMkLst>
            <pc:docMk/>
            <pc:sldMk cId="0" sldId="263"/>
            <ac:grpSpMk id="3" creationId="{00000000-0000-0000-0000-000000000000}"/>
          </ac:grpSpMkLst>
        </pc:grpChg>
      </pc:sldChg>
      <pc:sldChg chg="modSp mod">
        <pc:chgData name="Meghana ch" userId="418f84716d9582cf" providerId="LiveId" clId="{668E43EC-68E9-4D12-8265-5156137010FE}" dt="2026-01-07T11:55:17.424" v="1014" actId="1076"/>
        <pc:sldMkLst>
          <pc:docMk/>
          <pc:sldMk cId="0" sldId="264"/>
        </pc:sldMkLst>
        <pc:spChg chg="mod">
          <ac:chgData name="Meghana ch" userId="418f84716d9582cf" providerId="LiveId" clId="{668E43EC-68E9-4D12-8265-5156137010FE}" dt="2026-01-07T11:55:17.424" v="1014" actId="1076"/>
          <ac:spMkLst>
            <pc:docMk/>
            <pc:sldMk cId="0" sldId="264"/>
            <ac:spMk id="10" creationId="{B5A0F954-C8A0-C16D-D543-AA4CAFFF9CD0}"/>
          </ac:spMkLst>
        </pc:spChg>
      </pc:sldChg>
      <pc:sldChg chg="modSp mod">
        <pc:chgData name="Meghana ch" userId="418f84716d9582cf" providerId="LiveId" clId="{668E43EC-68E9-4D12-8265-5156137010FE}" dt="2026-01-15T07:16:33.763" v="1514" actId="207"/>
        <pc:sldMkLst>
          <pc:docMk/>
          <pc:sldMk cId="0" sldId="281"/>
        </pc:sldMkLst>
        <pc:spChg chg="mod">
          <ac:chgData name="Meghana ch" userId="418f84716d9582cf" providerId="LiveId" clId="{668E43EC-68E9-4D12-8265-5156137010FE}" dt="2026-01-15T07:16:33.763" v="1514" actId="207"/>
          <ac:spMkLst>
            <pc:docMk/>
            <pc:sldMk cId="0" sldId="281"/>
            <ac:spMk id="3" creationId="{00000000-0000-0000-0000-000000000000}"/>
          </ac:spMkLst>
        </pc:spChg>
      </pc:sldChg>
      <pc:sldChg chg="modSp mod">
        <pc:chgData name="Meghana ch" userId="418f84716d9582cf" providerId="LiveId" clId="{668E43EC-68E9-4D12-8265-5156137010FE}" dt="2026-01-07T12:06:41.993" v="1081" actId="14100"/>
        <pc:sldMkLst>
          <pc:docMk/>
          <pc:sldMk cId="859844476" sldId="282"/>
        </pc:sldMkLst>
        <pc:spChg chg="mod">
          <ac:chgData name="Meghana ch" userId="418f84716d9582cf" providerId="LiveId" clId="{668E43EC-68E9-4D12-8265-5156137010FE}" dt="2026-01-07T12:06:41.993" v="1081" actId="14100"/>
          <ac:spMkLst>
            <pc:docMk/>
            <pc:sldMk cId="859844476" sldId="282"/>
            <ac:spMk id="2" creationId="{B8C80A36-85AD-A2AD-B60E-25F814662B32}"/>
          </ac:spMkLst>
        </pc:spChg>
      </pc:sldChg>
      <pc:sldChg chg="modSp mod ord">
        <pc:chgData name="Meghana ch" userId="418f84716d9582cf" providerId="LiveId" clId="{668E43EC-68E9-4D12-8265-5156137010FE}" dt="2026-01-07T12:06:17.795" v="1076" actId="20577"/>
        <pc:sldMkLst>
          <pc:docMk/>
          <pc:sldMk cId="198076788" sldId="283"/>
        </pc:sldMkLst>
        <pc:spChg chg="mod">
          <ac:chgData name="Meghana ch" userId="418f84716d9582cf" providerId="LiveId" clId="{668E43EC-68E9-4D12-8265-5156137010FE}" dt="2026-01-07T12:06:17.795" v="1076" actId="20577"/>
          <ac:spMkLst>
            <pc:docMk/>
            <pc:sldMk cId="198076788" sldId="283"/>
            <ac:spMk id="4" creationId="{ABD4711B-2CD8-C600-BEBA-CE2D7CD7E8AC}"/>
          </ac:spMkLst>
        </pc:spChg>
      </pc:sldChg>
      <pc:sldChg chg="addSp delSp modSp new mod ord modClrScheme chgLayout">
        <pc:chgData name="Meghana ch" userId="418f84716d9582cf" providerId="LiveId" clId="{668E43EC-68E9-4D12-8265-5156137010FE}" dt="2026-01-15T07:00:09.508" v="1086" actId="1076"/>
        <pc:sldMkLst>
          <pc:docMk/>
          <pc:sldMk cId="2497382872" sldId="284"/>
        </pc:sldMkLst>
        <pc:spChg chg="add mod ord">
          <ac:chgData name="Meghana ch" userId="418f84716d9582cf" providerId="LiveId" clId="{668E43EC-68E9-4D12-8265-5156137010FE}" dt="2026-01-07T07:12:34.285" v="275" actId="1076"/>
          <ac:spMkLst>
            <pc:docMk/>
            <pc:sldMk cId="2497382872" sldId="284"/>
            <ac:spMk id="3" creationId="{50C22A6E-7E06-2E8C-5E42-2E0B74EDC8C3}"/>
          </ac:spMkLst>
        </pc:spChg>
        <pc:spChg chg="add mod">
          <ac:chgData name="Meghana ch" userId="418f84716d9582cf" providerId="LiveId" clId="{668E43EC-68E9-4D12-8265-5156137010FE}" dt="2026-01-07T11:56:00.225" v="1018" actId="255"/>
          <ac:spMkLst>
            <pc:docMk/>
            <pc:sldMk cId="2497382872" sldId="284"/>
            <ac:spMk id="14" creationId="{1FD4C375-7C94-CB12-4576-72DFBF2D34B9}"/>
          </ac:spMkLst>
        </pc:spChg>
        <pc:picChg chg="add mod">
          <ac:chgData name="Meghana ch" userId="418f84716d9582cf" providerId="LiveId" clId="{668E43EC-68E9-4D12-8265-5156137010FE}" dt="2026-01-15T07:00:09.508" v="1086" actId="1076"/>
          <ac:picMkLst>
            <pc:docMk/>
            <pc:sldMk cId="2497382872" sldId="284"/>
            <ac:picMk id="11" creationId="{6DE506EC-A22D-DD34-3301-2ECAD01AD647}"/>
          </ac:picMkLst>
        </pc:picChg>
        <pc:picChg chg="add mod">
          <ac:chgData name="Meghana ch" userId="418f84716d9582cf" providerId="LiveId" clId="{668E43EC-68E9-4D12-8265-5156137010FE}" dt="2026-01-07T07:12:43.173" v="277" actId="1076"/>
          <ac:picMkLst>
            <pc:docMk/>
            <pc:sldMk cId="2497382872" sldId="284"/>
            <ac:picMk id="13" creationId="{1F013127-CD52-B630-00CF-F8BE9B1EBEAF}"/>
          </ac:picMkLst>
        </pc:picChg>
      </pc:sldChg>
      <pc:sldChg chg="addSp modSp new mod">
        <pc:chgData name="Meghana ch" userId="418f84716d9582cf" providerId="LiveId" clId="{668E43EC-68E9-4D12-8265-5156137010FE}" dt="2026-01-07T11:56:40.262" v="1022" actId="1076"/>
        <pc:sldMkLst>
          <pc:docMk/>
          <pc:sldMk cId="541844938" sldId="285"/>
        </pc:sldMkLst>
        <pc:spChg chg="add mod">
          <ac:chgData name="Meghana ch" userId="418f84716d9582cf" providerId="LiveId" clId="{668E43EC-68E9-4D12-8265-5156137010FE}" dt="2026-01-07T11:56:36.433" v="1020" actId="1076"/>
          <ac:spMkLst>
            <pc:docMk/>
            <pc:sldMk cId="541844938" sldId="285"/>
            <ac:spMk id="6" creationId="{0DA0DC87-A11E-05D8-ADC2-193191EA8985}"/>
          </ac:spMkLst>
        </pc:spChg>
        <pc:picChg chg="add mod">
          <ac:chgData name="Meghana ch" userId="418f84716d9582cf" providerId="LiveId" clId="{668E43EC-68E9-4D12-8265-5156137010FE}" dt="2026-01-07T11:56:40.262" v="1022" actId="1076"/>
          <ac:picMkLst>
            <pc:docMk/>
            <pc:sldMk cId="541844938" sldId="285"/>
            <ac:picMk id="3" creationId="{DFD5154E-369E-59C7-6BF4-80FED20BB688}"/>
          </ac:picMkLst>
        </pc:picChg>
        <pc:picChg chg="add mod">
          <ac:chgData name="Meghana ch" userId="418f84716d9582cf" providerId="LiveId" clId="{668E43EC-68E9-4D12-8265-5156137010FE}" dt="2026-01-07T07:26:44.515" v="434" actId="1076"/>
          <ac:picMkLst>
            <pc:docMk/>
            <pc:sldMk cId="541844938" sldId="285"/>
            <ac:picMk id="5" creationId="{4211E3EF-71E3-6243-DBF0-D2BFD997CD1A}"/>
          </ac:picMkLst>
        </pc:picChg>
      </pc:sldChg>
      <pc:sldChg chg="addSp modSp new mod">
        <pc:chgData name="Meghana ch" userId="418f84716d9582cf" providerId="LiveId" clId="{668E43EC-68E9-4D12-8265-5156137010FE}" dt="2026-01-07T11:57:23.839" v="1027" actId="1076"/>
        <pc:sldMkLst>
          <pc:docMk/>
          <pc:sldMk cId="435438955" sldId="286"/>
        </pc:sldMkLst>
        <pc:spChg chg="add mod">
          <ac:chgData name="Meghana ch" userId="418f84716d9582cf" providerId="LiveId" clId="{668E43EC-68E9-4D12-8265-5156137010FE}" dt="2026-01-07T09:05:02.303" v="602" actId="767"/>
          <ac:spMkLst>
            <pc:docMk/>
            <pc:sldMk cId="435438955" sldId="286"/>
            <ac:spMk id="2" creationId="{E45D5814-0E1E-C499-AFC4-7C5064794DC8}"/>
          </ac:spMkLst>
        </pc:spChg>
        <pc:spChg chg="mod">
          <ac:chgData name="Meghana ch" userId="418f84716d9582cf" providerId="LiveId" clId="{668E43EC-68E9-4D12-8265-5156137010FE}" dt="2026-01-07T11:57:23.839" v="1027" actId="1076"/>
          <ac:spMkLst>
            <pc:docMk/>
            <pc:sldMk cId="435438955" sldId="286"/>
            <ac:spMk id="6" creationId="{05BB4037-EA13-64C4-9635-2B9FDA61F2EF}"/>
          </ac:spMkLst>
        </pc:spChg>
      </pc:sldChg>
      <pc:sldChg chg="addSp modSp new mod">
        <pc:chgData name="Meghana ch" userId="418f84716d9582cf" providerId="LiveId" clId="{668E43EC-68E9-4D12-8265-5156137010FE}" dt="2026-01-07T11:55:44.941" v="1017" actId="20577"/>
        <pc:sldMkLst>
          <pc:docMk/>
          <pc:sldMk cId="183823892" sldId="287"/>
        </pc:sldMkLst>
        <pc:spChg chg="mod">
          <ac:chgData name="Meghana ch" userId="418f84716d9582cf" providerId="LiveId" clId="{668E43EC-68E9-4D12-8265-5156137010FE}" dt="2026-01-07T07:40:57.018" v="476" actId="20577"/>
          <ac:spMkLst>
            <pc:docMk/>
            <pc:sldMk cId="183823892" sldId="287"/>
            <ac:spMk id="2" creationId="{05A2D8ED-3A9A-684F-612B-E3DA2F1A44A6}"/>
          </ac:spMkLst>
        </pc:spChg>
        <pc:spChg chg="mod">
          <ac:chgData name="Meghana ch" userId="418f84716d9582cf" providerId="LiveId" clId="{668E43EC-68E9-4D12-8265-5156137010FE}" dt="2026-01-07T07:41:14.668" v="477"/>
          <ac:spMkLst>
            <pc:docMk/>
            <pc:sldMk cId="183823892" sldId="287"/>
            <ac:spMk id="5" creationId="{2F9A7EE7-0BFC-183A-E649-D8D062D4AD5E}"/>
          </ac:spMkLst>
        </pc:spChg>
        <pc:spChg chg="add mod">
          <ac:chgData name="Meghana ch" userId="418f84716d9582cf" providerId="LiveId" clId="{668E43EC-68E9-4D12-8265-5156137010FE}" dt="2026-01-07T11:55:44.941" v="1017" actId="20577"/>
          <ac:spMkLst>
            <pc:docMk/>
            <pc:sldMk cId="183823892" sldId="287"/>
            <ac:spMk id="6" creationId="{90270EA9-2E27-8D7A-7D2D-3CA349036D32}"/>
          </ac:spMkLst>
        </pc:spChg>
        <pc:grpChg chg="add mod">
          <ac:chgData name="Meghana ch" userId="418f84716d9582cf" providerId="LiveId" clId="{668E43EC-68E9-4D12-8265-5156137010FE}" dt="2026-01-07T07:41:28.007" v="478" actId="14100"/>
          <ac:grpSpMkLst>
            <pc:docMk/>
            <pc:sldMk cId="183823892" sldId="287"/>
            <ac:grpSpMk id="3" creationId="{8D185662-D40C-19E0-53C5-C570180D1E8D}"/>
          </ac:grpSpMkLst>
        </pc:grpChg>
        <pc:picChg chg="mod">
          <ac:chgData name="Meghana ch" userId="418f84716d9582cf" providerId="LiveId" clId="{668E43EC-68E9-4D12-8265-5156137010FE}" dt="2026-01-07T07:41:14.668" v="477"/>
          <ac:picMkLst>
            <pc:docMk/>
            <pc:sldMk cId="183823892" sldId="287"/>
            <ac:picMk id="4" creationId="{E224BA4D-7C1E-4EE3-6CBD-659FAD8B10B0}"/>
          </ac:picMkLst>
        </pc:picChg>
      </pc:sldChg>
      <pc:sldChg chg="modSp mod">
        <pc:chgData name="Meghana ch" userId="418f84716d9582cf" providerId="LiveId" clId="{668E43EC-68E9-4D12-8265-5156137010FE}" dt="2026-01-07T11:58:12.133" v="1032" actId="20577"/>
        <pc:sldMkLst>
          <pc:docMk/>
          <pc:sldMk cId="1127091294" sldId="288"/>
        </pc:sldMkLst>
        <pc:spChg chg="mod">
          <ac:chgData name="Meghana ch" userId="418f84716d9582cf" providerId="LiveId" clId="{668E43EC-68E9-4D12-8265-5156137010FE}" dt="2026-01-07T11:58:04.034" v="1030" actId="14100"/>
          <ac:spMkLst>
            <pc:docMk/>
            <pc:sldMk cId="1127091294" sldId="288"/>
            <ac:spMk id="2" creationId="{4A71DAF0-7535-432E-857E-8E5F7F5FC99B}"/>
          </ac:spMkLst>
        </pc:spChg>
        <pc:spChg chg="mod">
          <ac:chgData name="Meghana ch" userId="418f84716d9582cf" providerId="LiveId" clId="{668E43EC-68E9-4D12-8265-5156137010FE}" dt="2026-01-07T11:58:12.133" v="1032" actId="20577"/>
          <ac:spMkLst>
            <pc:docMk/>
            <pc:sldMk cId="1127091294" sldId="288"/>
            <ac:spMk id="5" creationId="{1470393B-F28D-9065-5286-F100D86B8A60}"/>
          </ac:spMkLst>
        </pc:spChg>
      </pc:sldChg>
      <pc:sldChg chg="modSp mod">
        <pc:chgData name="Meghana ch" userId="418f84716d9582cf" providerId="LiveId" clId="{668E43EC-68E9-4D12-8265-5156137010FE}" dt="2026-01-07T11:57:40.784" v="1029" actId="20577"/>
        <pc:sldMkLst>
          <pc:docMk/>
          <pc:sldMk cId="463707356" sldId="289"/>
        </pc:sldMkLst>
        <pc:spChg chg="mod">
          <ac:chgData name="Meghana ch" userId="418f84716d9582cf" providerId="LiveId" clId="{668E43EC-68E9-4D12-8265-5156137010FE}" dt="2026-01-07T11:57:40.784" v="1029" actId="20577"/>
          <ac:spMkLst>
            <pc:docMk/>
            <pc:sldMk cId="463707356" sldId="289"/>
            <ac:spMk id="5" creationId="{02888FE3-2879-E974-EAB6-50F0525EF654}"/>
          </ac:spMkLst>
        </pc:spChg>
      </pc:sldChg>
      <pc:sldChg chg="modSp mod">
        <pc:chgData name="Meghana ch" userId="418f84716d9582cf" providerId="LiveId" clId="{668E43EC-68E9-4D12-8265-5156137010FE}" dt="2026-01-07T11:58:53.360" v="1035" actId="1076"/>
        <pc:sldMkLst>
          <pc:docMk/>
          <pc:sldMk cId="693861519" sldId="290"/>
        </pc:sldMkLst>
        <pc:spChg chg="mod">
          <ac:chgData name="Meghana ch" userId="418f84716d9582cf" providerId="LiveId" clId="{668E43EC-68E9-4D12-8265-5156137010FE}" dt="2026-01-07T11:58:53.360" v="1035" actId="1076"/>
          <ac:spMkLst>
            <pc:docMk/>
            <pc:sldMk cId="693861519" sldId="290"/>
            <ac:spMk id="5" creationId="{BDB3F4E0-258C-FF08-B70F-10204E4CDFF7}"/>
          </ac:spMkLst>
        </pc:spChg>
      </pc:sldChg>
      <pc:sldChg chg="modSp mod">
        <pc:chgData name="Meghana ch" userId="418f84716d9582cf" providerId="LiveId" clId="{668E43EC-68E9-4D12-8265-5156137010FE}" dt="2026-01-07T11:59:35.970" v="1042" actId="1076"/>
        <pc:sldMkLst>
          <pc:docMk/>
          <pc:sldMk cId="1177050124" sldId="291"/>
        </pc:sldMkLst>
        <pc:spChg chg="mod">
          <ac:chgData name="Meghana ch" userId="418f84716d9582cf" providerId="LiveId" clId="{668E43EC-68E9-4D12-8265-5156137010FE}" dt="2026-01-07T11:59:35.970" v="1042" actId="1076"/>
          <ac:spMkLst>
            <pc:docMk/>
            <pc:sldMk cId="1177050124" sldId="291"/>
            <ac:spMk id="5" creationId="{E0DEB64D-8E53-1546-7EB7-037FE7216266}"/>
          </ac:spMkLst>
        </pc:spChg>
        <pc:picChg chg="mod">
          <ac:chgData name="Meghana ch" userId="418f84716d9582cf" providerId="LiveId" clId="{668E43EC-68E9-4D12-8265-5156137010FE}" dt="2026-01-07T11:59:27.522" v="1040" actId="1076"/>
          <ac:picMkLst>
            <pc:docMk/>
            <pc:sldMk cId="1177050124" sldId="291"/>
            <ac:picMk id="3" creationId="{FE8A7A09-FB97-3561-DD17-65DFE63C5DC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FF7FA86A-9B3E-446A-BC9C-B8ADF986FC88}" type="datetimeFigureOut">
              <a:rPr lang="en-IN" smtClean="0"/>
              <a:t>15-01-2026</a:t>
            </a:fld>
            <a:endParaRPr lang="en-IN"/>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8A2EB107-C117-45C8-98EC-0CAEC7507AF1}" type="slidenum">
              <a:rPr lang="en-IN" smtClean="0"/>
              <a:t>‹#›</a:t>
            </a:fld>
            <a:endParaRPr lang="en-IN"/>
          </a:p>
        </p:txBody>
      </p:sp>
    </p:spTree>
    <p:extLst>
      <p:ext uri="{BB962C8B-B14F-4D97-AF65-F5344CB8AC3E}">
        <p14:creationId xmlns:p14="http://schemas.microsoft.com/office/powerpoint/2010/main" val="10337893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A2EB107-C117-45C8-98EC-0CAEC7507AF1}" type="slidenum">
              <a:rPr lang="en-IN" smtClean="0"/>
              <a:t>7</a:t>
            </a:fld>
            <a:endParaRPr lang="en-IN"/>
          </a:p>
        </p:txBody>
      </p:sp>
    </p:spTree>
    <p:extLst>
      <p:ext uri="{BB962C8B-B14F-4D97-AF65-F5344CB8AC3E}">
        <p14:creationId xmlns:p14="http://schemas.microsoft.com/office/powerpoint/2010/main" val="38886694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sz="3300" b="1" i="0">
                <a:solidFill>
                  <a:schemeClr val="tx1"/>
                </a:solidFill>
                <a:latin typeface="Calibri"/>
                <a:cs typeface="Calibri"/>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14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1"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4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1" i="0">
                <a:solidFill>
                  <a:schemeClr val="tx1"/>
                </a:solidFill>
                <a:latin typeface="Calibri"/>
                <a:cs typeface="Calibri"/>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1/15/2026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1"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1/15/2026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1/15/2026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6610674" y="4638738"/>
            <a:ext cx="2419046" cy="457141"/>
          </a:xfrm>
          <a:prstGeom prst="rect">
            <a:avLst/>
          </a:prstGeom>
        </p:spPr>
      </p:pic>
      <p:sp>
        <p:nvSpPr>
          <p:cNvPr id="2" name="Holder 2"/>
          <p:cNvSpPr>
            <a:spLocks noGrp="1"/>
          </p:cNvSpPr>
          <p:nvPr>
            <p:ph type="title"/>
          </p:nvPr>
        </p:nvSpPr>
        <p:spPr>
          <a:xfrm>
            <a:off x="198422" y="-29464"/>
            <a:ext cx="8747155" cy="746260"/>
          </a:xfrm>
          <a:prstGeom prst="rect">
            <a:avLst/>
          </a:prstGeom>
        </p:spPr>
        <p:txBody>
          <a:bodyPr wrap="square" lIns="0" tIns="0" rIns="0" bIns="0">
            <a:spAutoFit/>
          </a:bodyPr>
          <a:lstStyle>
            <a:lvl1pPr>
              <a:defRPr sz="3300" b="1" i="0">
                <a:solidFill>
                  <a:schemeClr val="tx1"/>
                </a:solidFill>
                <a:latin typeface="Calibri"/>
                <a:cs typeface="Calibri"/>
              </a:defRPr>
            </a:lvl1pPr>
          </a:lstStyle>
          <a:p>
            <a:endParaRPr/>
          </a:p>
        </p:txBody>
      </p:sp>
      <p:sp>
        <p:nvSpPr>
          <p:cNvPr id="3" name="Holder 3"/>
          <p:cNvSpPr>
            <a:spLocks noGrp="1"/>
          </p:cNvSpPr>
          <p:nvPr>
            <p:ph type="body" idx="1"/>
          </p:nvPr>
        </p:nvSpPr>
        <p:spPr>
          <a:xfrm>
            <a:off x="4025706" y="1597567"/>
            <a:ext cx="4560570" cy="1732279"/>
          </a:xfrm>
          <a:prstGeom prst="rect">
            <a:avLst/>
          </a:prstGeom>
        </p:spPr>
        <p:txBody>
          <a:bodyPr wrap="square" lIns="0" tIns="0" rIns="0" bIns="0">
            <a:spAutoFit/>
          </a:bodyPr>
          <a:lstStyle>
            <a:lvl1pPr>
              <a:defRPr sz="14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1/15/2026</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963392" cy="1593940"/>
          </a:xfrm>
          <a:prstGeom prst="rect">
            <a:avLst/>
          </a:prstGeom>
        </p:spPr>
      </p:pic>
      <p:sp>
        <p:nvSpPr>
          <p:cNvPr id="3" name="object 3"/>
          <p:cNvSpPr txBox="1">
            <a:spLocks noGrp="1"/>
          </p:cNvSpPr>
          <p:nvPr>
            <p:ph type="title"/>
          </p:nvPr>
        </p:nvSpPr>
        <p:spPr>
          <a:xfrm>
            <a:off x="1600200" y="2598555"/>
            <a:ext cx="6400800" cy="443711"/>
          </a:xfrm>
          <a:prstGeom prst="rect">
            <a:avLst/>
          </a:prstGeom>
        </p:spPr>
        <p:txBody>
          <a:bodyPr vert="horz" wrap="square" lIns="0" tIns="12700" rIns="0" bIns="0" rtlCol="0">
            <a:spAutoFit/>
          </a:bodyPr>
          <a:lstStyle/>
          <a:p>
            <a:pPr marL="12700">
              <a:lnSpc>
                <a:spcPct val="100000"/>
              </a:lnSpc>
              <a:spcBef>
                <a:spcPts val="100"/>
              </a:spcBef>
            </a:pPr>
            <a:r>
              <a:rPr lang="en-IN" sz="2800" dirty="0">
                <a:latin typeface="Times New Roman"/>
                <a:cs typeface="Times New Roman"/>
              </a:rPr>
              <a:t>HISTORICAL POPULARITY INDEX</a:t>
            </a:r>
            <a:endParaRPr sz="2800" dirty="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75509" y="1018337"/>
            <a:ext cx="7968615" cy="2705101"/>
          </a:xfrm>
          <a:custGeom>
            <a:avLst/>
            <a:gdLst/>
            <a:ahLst/>
            <a:cxnLst/>
            <a:rect l="l" t="t" r="r" b="b"/>
            <a:pathLst>
              <a:path w="7968615" h="2352040">
                <a:moveTo>
                  <a:pt x="0" y="0"/>
                </a:moveTo>
                <a:lnTo>
                  <a:pt x="7968300" y="0"/>
                </a:lnTo>
                <a:lnTo>
                  <a:pt x="7968300" y="2351699"/>
                </a:lnTo>
                <a:lnTo>
                  <a:pt x="0" y="2351699"/>
                </a:lnTo>
                <a:lnTo>
                  <a:pt x="0" y="0"/>
                </a:lnTo>
                <a:close/>
              </a:path>
            </a:pathLst>
          </a:custGeom>
          <a:ln w="9524">
            <a:solidFill>
              <a:srgbClr val="000000"/>
            </a:solidFill>
          </a:ln>
        </p:spPr>
        <p:txBody>
          <a:bodyPr wrap="square" lIns="0" tIns="0" rIns="0" bIns="0" rtlCol="0"/>
          <a:lstStyle/>
          <a:p>
            <a:endParaRPr/>
          </a:p>
        </p:txBody>
      </p:sp>
      <p:sp>
        <p:nvSpPr>
          <p:cNvPr id="3" name="object 3"/>
          <p:cNvSpPr txBox="1"/>
          <p:nvPr/>
        </p:nvSpPr>
        <p:spPr>
          <a:xfrm>
            <a:off x="538806" y="1274433"/>
            <a:ext cx="7772400" cy="2192908"/>
          </a:xfrm>
          <a:prstGeom prst="rect">
            <a:avLst/>
          </a:prstGeom>
        </p:spPr>
        <p:txBody>
          <a:bodyPr vert="horz" wrap="square" lIns="0" tIns="12700" rIns="0" bIns="0" rtlCol="0">
            <a:spAutoFit/>
          </a:bodyPr>
          <a:lstStyle/>
          <a:p>
            <a:pPr marL="317500" indent="-292735">
              <a:lnSpc>
                <a:spcPct val="100000"/>
              </a:lnSpc>
              <a:spcBef>
                <a:spcPts val="100"/>
              </a:spcBef>
              <a:buFont typeface="Segoe UI Symbol"/>
              <a:buChar char="❑"/>
              <a:tabLst>
                <a:tab pos="317500" algn="l"/>
              </a:tabLst>
            </a:pPr>
            <a:r>
              <a:rPr sz="1400" b="1" spc="-10" dirty="0">
                <a:latin typeface="Times New Roman"/>
                <a:cs typeface="Times New Roman"/>
              </a:rPr>
              <a:t>Background</a:t>
            </a:r>
            <a:r>
              <a:rPr sz="1400" b="1" spc="-15" dirty="0">
                <a:latin typeface="Times New Roman"/>
                <a:cs typeface="Times New Roman"/>
              </a:rPr>
              <a:t> </a:t>
            </a:r>
            <a:r>
              <a:rPr sz="1400" b="1" dirty="0">
                <a:latin typeface="Times New Roman"/>
                <a:cs typeface="Times New Roman"/>
              </a:rPr>
              <a:t>?</a:t>
            </a:r>
            <a:r>
              <a:rPr sz="1400" b="1" spc="-10" dirty="0">
                <a:latin typeface="Times New Roman"/>
                <a:cs typeface="Times New Roman"/>
              </a:rPr>
              <a:t> (B-</a:t>
            </a:r>
            <a:r>
              <a:rPr sz="1400" b="1" dirty="0">
                <a:latin typeface="Times New Roman"/>
                <a:cs typeface="Times New Roman"/>
              </a:rPr>
              <a:t>tech</a:t>
            </a:r>
            <a:r>
              <a:rPr sz="1400" b="1" spc="-10" dirty="0">
                <a:latin typeface="Times New Roman"/>
                <a:cs typeface="Times New Roman"/>
              </a:rPr>
              <a:t> </a:t>
            </a:r>
            <a:r>
              <a:rPr sz="1400" b="1" dirty="0">
                <a:latin typeface="Times New Roman"/>
                <a:cs typeface="Times New Roman"/>
              </a:rPr>
              <a:t>or</a:t>
            </a:r>
            <a:r>
              <a:rPr sz="1400" b="1" spc="-40" dirty="0">
                <a:latin typeface="Times New Roman"/>
                <a:cs typeface="Times New Roman"/>
              </a:rPr>
              <a:t> </a:t>
            </a:r>
            <a:r>
              <a:rPr sz="1400" b="1" dirty="0">
                <a:latin typeface="Times New Roman"/>
                <a:cs typeface="Times New Roman"/>
              </a:rPr>
              <a:t>M-</a:t>
            </a:r>
            <a:r>
              <a:rPr sz="1400" b="1" spc="-10" dirty="0">
                <a:latin typeface="Times New Roman"/>
                <a:cs typeface="Times New Roman"/>
              </a:rPr>
              <a:t>tech)</a:t>
            </a:r>
            <a:r>
              <a:rPr lang="en-US" sz="1400" b="1" spc="-10" dirty="0">
                <a:latin typeface="Times New Roman"/>
                <a:cs typeface="Times New Roman"/>
              </a:rPr>
              <a:t>: </a:t>
            </a:r>
            <a:r>
              <a:rPr lang="en-US" sz="1400" spc="-10" dirty="0">
                <a:latin typeface="Times New Roman"/>
                <a:cs typeface="Times New Roman"/>
              </a:rPr>
              <a:t>My name is Meghana </a:t>
            </a:r>
            <a:r>
              <a:rPr lang="en-US" sz="1400" spc="-10" dirty="0" err="1">
                <a:latin typeface="Times New Roman"/>
                <a:cs typeface="Times New Roman"/>
              </a:rPr>
              <a:t>Chevvuri</a:t>
            </a:r>
            <a:r>
              <a:rPr lang="en-US" sz="1400" spc="-10" dirty="0">
                <a:latin typeface="Times New Roman"/>
                <a:cs typeface="Times New Roman"/>
              </a:rPr>
              <a:t>. I have completed my </a:t>
            </a:r>
            <a:r>
              <a:rPr lang="en-US" sz="1400" spc="-10" dirty="0" err="1">
                <a:latin typeface="Times New Roman"/>
                <a:cs typeface="Times New Roman"/>
              </a:rPr>
              <a:t>B.Tech</a:t>
            </a:r>
            <a:r>
              <a:rPr lang="en-US" sz="1400" spc="-10" dirty="0">
                <a:latin typeface="Times New Roman"/>
                <a:cs typeface="Times New Roman"/>
              </a:rPr>
              <a:t> in Electronics and Communication Engineering (ECE). </a:t>
            </a:r>
            <a:endParaRPr sz="1400" dirty="0">
              <a:latin typeface="Times New Roman"/>
              <a:cs typeface="Times New Roman"/>
            </a:endParaRPr>
          </a:p>
          <a:p>
            <a:pPr>
              <a:lnSpc>
                <a:spcPct val="100000"/>
              </a:lnSpc>
              <a:spcBef>
                <a:spcPts val="80"/>
              </a:spcBef>
              <a:buFont typeface="Segoe UI Symbol"/>
              <a:buChar char="❑"/>
            </a:pPr>
            <a:endParaRPr sz="1400" dirty="0">
              <a:latin typeface="Times New Roman"/>
              <a:cs typeface="Times New Roman"/>
            </a:endParaRPr>
          </a:p>
          <a:p>
            <a:pPr marL="317500" indent="-292735">
              <a:lnSpc>
                <a:spcPct val="100000"/>
              </a:lnSpc>
              <a:buFont typeface="Segoe UI Symbol"/>
              <a:buChar char="❑"/>
              <a:tabLst>
                <a:tab pos="317500" algn="l"/>
              </a:tabLst>
            </a:pPr>
            <a:r>
              <a:rPr sz="1400" b="1" dirty="0">
                <a:latin typeface="Times New Roman"/>
                <a:cs typeface="Times New Roman"/>
              </a:rPr>
              <a:t>Why</a:t>
            </a:r>
            <a:r>
              <a:rPr sz="1400" b="1" spc="-15" dirty="0">
                <a:latin typeface="Times New Roman"/>
                <a:cs typeface="Times New Roman"/>
              </a:rPr>
              <a:t> </a:t>
            </a:r>
            <a:r>
              <a:rPr sz="1400" b="1" dirty="0">
                <a:latin typeface="Times New Roman"/>
                <a:cs typeface="Times New Roman"/>
              </a:rPr>
              <a:t>you</a:t>
            </a:r>
            <a:r>
              <a:rPr sz="1400" b="1" spc="-15" dirty="0">
                <a:latin typeface="Times New Roman"/>
                <a:cs typeface="Times New Roman"/>
              </a:rPr>
              <a:t> </a:t>
            </a:r>
            <a:r>
              <a:rPr sz="1400" b="1" dirty="0">
                <a:latin typeface="Times New Roman"/>
                <a:cs typeface="Times New Roman"/>
              </a:rPr>
              <a:t>want</a:t>
            </a:r>
            <a:r>
              <a:rPr sz="1400" b="1" spc="-10" dirty="0">
                <a:latin typeface="Times New Roman"/>
                <a:cs typeface="Times New Roman"/>
              </a:rPr>
              <a:t> </a:t>
            </a:r>
            <a:r>
              <a:rPr sz="1400" b="1" dirty="0">
                <a:latin typeface="Times New Roman"/>
                <a:cs typeface="Times New Roman"/>
              </a:rPr>
              <a:t>to</a:t>
            </a:r>
            <a:r>
              <a:rPr sz="1400" b="1" spc="-10" dirty="0">
                <a:latin typeface="Times New Roman"/>
                <a:cs typeface="Times New Roman"/>
              </a:rPr>
              <a:t> </a:t>
            </a:r>
            <a:r>
              <a:rPr sz="1400" b="1" dirty="0">
                <a:latin typeface="Times New Roman"/>
                <a:cs typeface="Times New Roman"/>
              </a:rPr>
              <a:t>learn</a:t>
            </a:r>
            <a:r>
              <a:rPr sz="1400" b="1" spc="-15" dirty="0">
                <a:latin typeface="Times New Roman"/>
                <a:cs typeface="Times New Roman"/>
              </a:rPr>
              <a:t> </a:t>
            </a:r>
            <a:r>
              <a:rPr sz="1400" b="1" dirty="0">
                <a:latin typeface="Times New Roman"/>
                <a:cs typeface="Times New Roman"/>
              </a:rPr>
              <a:t>Data</a:t>
            </a:r>
            <a:r>
              <a:rPr sz="1400" b="1" spc="-90" dirty="0">
                <a:latin typeface="Times New Roman"/>
                <a:cs typeface="Times New Roman"/>
              </a:rPr>
              <a:t> </a:t>
            </a:r>
            <a:r>
              <a:rPr lang="en-US" sz="1400" b="1" spc="-10" dirty="0">
                <a:latin typeface="Times New Roman"/>
                <a:cs typeface="Times New Roman"/>
              </a:rPr>
              <a:t>Science : </a:t>
            </a:r>
            <a:r>
              <a:rPr lang="en-US" sz="1400" spc="-10" dirty="0">
                <a:latin typeface="Times New Roman"/>
                <a:cs typeface="Times New Roman"/>
              </a:rPr>
              <a:t>I want learn Data Science because it enables me to turn data into insights that provides better decisions and it aligns well with my interest in analysis, problem solving and real world applications.</a:t>
            </a:r>
          </a:p>
          <a:p>
            <a:pPr marL="317500" indent="-292735">
              <a:lnSpc>
                <a:spcPct val="100000"/>
              </a:lnSpc>
              <a:buFont typeface="Segoe UI Symbol"/>
              <a:buChar char="❑"/>
              <a:tabLst>
                <a:tab pos="317500" algn="l"/>
              </a:tabLst>
            </a:pPr>
            <a:endParaRPr sz="1400" dirty="0">
              <a:latin typeface="Times New Roman"/>
              <a:cs typeface="Times New Roman"/>
            </a:endParaRPr>
          </a:p>
          <a:p>
            <a:pPr marL="317500" indent="-292735">
              <a:lnSpc>
                <a:spcPct val="100000"/>
              </a:lnSpc>
              <a:buFont typeface="Segoe UI Symbol"/>
              <a:buChar char="❑"/>
              <a:tabLst>
                <a:tab pos="317500" algn="l"/>
              </a:tabLst>
            </a:pPr>
            <a:r>
              <a:rPr sz="1400" b="1" dirty="0">
                <a:latin typeface="Times New Roman"/>
                <a:cs typeface="Times New Roman"/>
              </a:rPr>
              <a:t>Any</a:t>
            </a:r>
            <a:r>
              <a:rPr sz="1400" b="1" spc="-25" dirty="0">
                <a:latin typeface="Times New Roman"/>
                <a:cs typeface="Times New Roman"/>
              </a:rPr>
              <a:t> </a:t>
            </a:r>
            <a:r>
              <a:rPr sz="1400" b="1" dirty="0">
                <a:latin typeface="Times New Roman"/>
                <a:cs typeface="Times New Roman"/>
              </a:rPr>
              <a:t>work</a:t>
            </a:r>
            <a:r>
              <a:rPr sz="1400" b="1" spc="-30" dirty="0">
                <a:latin typeface="Times New Roman"/>
                <a:cs typeface="Times New Roman"/>
              </a:rPr>
              <a:t> </a:t>
            </a:r>
            <a:r>
              <a:rPr sz="1400" b="1" spc="-10" dirty="0">
                <a:latin typeface="Times New Roman"/>
                <a:cs typeface="Times New Roman"/>
              </a:rPr>
              <a:t>experience</a:t>
            </a:r>
            <a:r>
              <a:rPr lang="en-US" sz="1400" b="1" spc="-10" dirty="0">
                <a:latin typeface="Times New Roman"/>
                <a:cs typeface="Times New Roman"/>
              </a:rPr>
              <a:t>: </a:t>
            </a:r>
            <a:r>
              <a:rPr lang="en-US" sz="1400" spc="-10" dirty="0">
                <a:latin typeface="Times New Roman"/>
                <a:cs typeface="Times New Roman"/>
              </a:rPr>
              <a:t>I am fresher.</a:t>
            </a:r>
            <a:endParaRPr sz="1400" dirty="0">
              <a:latin typeface="Times New Roman"/>
              <a:cs typeface="Times New Roman"/>
            </a:endParaRPr>
          </a:p>
          <a:p>
            <a:pPr>
              <a:lnSpc>
                <a:spcPct val="100000"/>
              </a:lnSpc>
              <a:buFont typeface="Segoe UI Symbol"/>
              <a:buChar char="❑"/>
            </a:pPr>
            <a:endParaRPr sz="1400" dirty="0">
              <a:latin typeface="Times New Roman"/>
              <a:cs typeface="Times New Roman"/>
            </a:endParaRPr>
          </a:p>
          <a:p>
            <a:pPr>
              <a:lnSpc>
                <a:spcPct val="100000"/>
              </a:lnSpc>
              <a:spcBef>
                <a:spcPts val="140"/>
              </a:spcBef>
            </a:pPr>
            <a:endParaRPr sz="1400" dirty="0">
              <a:latin typeface="Times New Roman"/>
              <a:cs typeface="Times New Roman"/>
            </a:endParaRPr>
          </a:p>
        </p:txBody>
      </p:sp>
      <p:sp>
        <p:nvSpPr>
          <p:cNvPr id="4" name="object 4"/>
          <p:cNvSpPr txBox="1">
            <a:spLocks noGrp="1"/>
          </p:cNvSpPr>
          <p:nvPr>
            <p:ph type="title"/>
          </p:nvPr>
        </p:nvSpPr>
        <p:spPr>
          <a:xfrm>
            <a:off x="76200" y="57150"/>
            <a:ext cx="8747155" cy="659688"/>
          </a:xfrm>
          <a:prstGeom prst="rect">
            <a:avLst/>
          </a:prstGeom>
        </p:spPr>
        <p:txBody>
          <a:bodyPr vert="horz" wrap="square" lIns="0" tIns="287548" rIns="0" bIns="0" rtlCol="0">
            <a:spAutoFit/>
          </a:bodyPr>
          <a:lstStyle/>
          <a:p>
            <a:pPr marL="189230">
              <a:lnSpc>
                <a:spcPct val="100000"/>
              </a:lnSpc>
              <a:spcBef>
                <a:spcPts val="100"/>
              </a:spcBef>
            </a:pPr>
            <a:r>
              <a:rPr sz="2400" dirty="0">
                <a:latin typeface="Times New Roman" panose="02020603050405020304" pitchFamily="18" charset="0"/>
                <a:cs typeface="Times New Roman" panose="02020603050405020304" pitchFamily="18" charset="0"/>
              </a:rPr>
              <a:t>About</a:t>
            </a:r>
            <a:r>
              <a:rPr sz="2400" spc="-10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me</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57150"/>
            <a:ext cx="3733800" cy="606841"/>
          </a:xfrm>
          <a:prstGeom prst="rect">
            <a:avLst/>
          </a:prstGeom>
        </p:spPr>
        <p:txBody>
          <a:bodyPr vert="horz" wrap="square" lIns="0" tIns="235212" rIns="0" bIns="0" rtlCol="0">
            <a:spAutoFit/>
          </a:bodyPr>
          <a:lstStyle/>
          <a:p>
            <a:pPr marL="12700">
              <a:lnSpc>
                <a:spcPct val="100000"/>
              </a:lnSpc>
              <a:spcBef>
                <a:spcPts val="100"/>
              </a:spcBef>
            </a:pPr>
            <a:r>
              <a:rPr sz="2400" dirty="0">
                <a:latin typeface="Times New Roman"/>
                <a:cs typeface="Times New Roman"/>
              </a:rPr>
              <a:t>Dataset</a:t>
            </a:r>
            <a:r>
              <a:rPr sz="2400" spc="-80" dirty="0">
                <a:latin typeface="Times New Roman"/>
                <a:cs typeface="Times New Roman"/>
              </a:rPr>
              <a:t> </a:t>
            </a:r>
            <a:r>
              <a:rPr sz="2400" spc="-10" dirty="0">
                <a:latin typeface="Times New Roman"/>
                <a:cs typeface="Times New Roman"/>
              </a:rPr>
              <a:t>Overview</a:t>
            </a:r>
            <a:endParaRPr sz="2400" dirty="0">
              <a:latin typeface="Times New Roman"/>
              <a:cs typeface="Times New Roman"/>
            </a:endParaRPr>
          </a:p>
        </p:txBody>
      </p:sp>
      <p:sp>
        <p:nvSpPr>
          <p:cNvPr id="3" name="object 3"/>
          <p:cNvSpPr/>
          <p:nvPr/>
        </p:nvSpPr>
        <p:spPr>
          <a:xfrm>
            <a:off x="368050" y="857249"/>
            <a:ext cx="8229600" cy="2857501"/>
          </a:xfrm>
          <a:custGeom>
            <a:avLst/>
            <a:gdLst/>
            <a:ahLst/>
            <a:cxnLst/>
            <a:rect l="l" t="t" r="r" b="b"/>
            <a:pathLst>
              <a:path w="8229600" h="1939289">
                <a:moveTo>
                  <a:pt x="0" y="0"/>
                </a:moveTo>
                <a:lnTo>
                  <a:pt x="8229599" y="0"/>
                </a:lnTo>
                <a:lnTo>
                  <a:pt x="8229599" y="1938992"/>
                </a:lnTo>
                <a:lnTo>
                  <a:pt x="0" y="1938992"/>
                </a:lnTo>
                <a:lnTo>
                  <a:pt x="0" y="0"/>
                </a:lnTo>
                <a:close/>
              </a:path>
            </a:pathLst>
          </a:custGeom>
          <a:ln w="9524">
            <a:solidFill>
              <a:srgbClr val="000000"/>
            </a:solidFill>
          </a:ln>
        </p:spPr>
        <p:txBody>
          <a:bodyPr wrap="square" lIns="0" tIns="0" rIns="0" bIns="0" rtlCol="0"/>
          <a:lstStyle/>
          <a:p>
            <a:endParaRPr/>
          </a:p>
        </p:txBody>
      </p:sp>
      <p:sp>
        <p:nvSpPr>
          <p:cNvPr id="4" name="object 4"/>
          <p:cNvSpPr txBox="1"/>
          <p:nvPr/>
        </p:nvSpPr>
        <p:spPr>
          <a:xfrm>
            <a:off x="546350" y="1013856"/>
            <a:ext cx="7988050" cy="2298065"/>
          </a:xfrm>
          <a:prstGeom prst="rect">
            <a:avLst/>
          </a:prstGeom>
        </p:spPr>
        <p:txBody>
          <a:bodyPr vert="horz" wrap="square" lIns="0" tIns="12700" rIns="0" bIns="0" rtlCol="0">
            <a:spAutoFit/>
          </a:bodyPr>
          <a:lstStyle/>
          <a:p>
            <a:pPr marL="297815" marR="215900" indent="-285750">
              <a:lnSpc>
                <a:spcPct val="100000"/>
              </a:lnSpc>
              <a:spcBef>
                <a:spcPts val="100"/>
              </a:spcBef>
              <a:buFont typeface="Arial" panose="020B0604020202020204" pitchFamily="34" charset="0"/>
              <a:buChar char="•"/>
              <a:tabLst>
                <a:tab pos="232410" algn="l"/>
              </a:tabLst>
            </a:pPr>
            <a:r>
              <a:rPr sz="1600" dirty="0">
                <a:latin typeface="Times New Roman"/>
                <a:cs typeface="Times New Roman"/>
              </a:rPr>
              <a:t>The</a:t>
            </a:r>
            <a:r>
              <a:rPr sz="1600" spc="-50" dirty="0">
                <a:latin typeface="Times New Roman"/>
                <a:cs typeface="Times New Roman"/>
              </a:rPr>
              <a:t> </a:t>
            </a:r>
            <a:r>
              <a:rPr sz="1600" dirty="0">
                <a:latin typeface="Times New Roman"/>
                <a:cs typeface="Times New Roman"/>
              </a:rPr>
              <a:t>dataset</a:t>
            </a:r>
            <a:r>
              <a:rPr sz="1600" spc="-50" dirty="0">
                <a:latin typeface="Times New Roman"/>
                <a:cs typeface="Times New Roman"/>
              </a:rPr>
              <a:t> </a:t>
            </a:r>
            <a:r>
              <a:rPr sz="1600" dirty="0">
                <a:latin typeface="Times New Roman"/>
                <a:cs typeface="Times New Roman"/>
              </a:rPr>
              <a:t>contains</a:t>
            </a:r>
            <a:r>
              <a:rPr sz="1600" spc="-50" dirty="0">
                <a:latin typeface="Times New Roman"/>
                <a:cs typeface="Times New Roman"/>
              </a:rPr>
              <a:t> </a:t>
            </a:r>
            <a:r>
              <a:rPr lang="en-IN" sz="1600" dirty="0">
                <a:latin typeface="Times New Roman"/>
                <a:cs typeface="Times New Roman"/>
              </a:rPr>
              <a:t>11,341</a:t>
            </a:r>
            <a:r>
              <a:rPr sz="1600" spc="-45" dirty="0">
                <a:latin typeface="Times New Roman"/>
                <a:cs typeface="Times New Roman"/>
              </a:rPr>
              <a:t> </a:t>
            </a:r>
            <a:r>
              <a:rPr sz="1600" dirty="0">
                <a:latin typeface="Times New Roman"/>
                <a:cs typeface="Times New Roman"/>
              </a:rPr>
              <a:t>rows</a:t>
            </a:r>
            <a:r>
              <a:rPr sz="1600" spc="-50" dirty="0">
                <a:latin typeface="Times New Roman"/>
                <a:cs typeface="Times New Roman"/>
              </a:rPr>
              <a:t> </a:t>
            </a:r>
            <a:r>
              <a:rPr sz="1600" dirty="0">
                <a:latin typeface="Times New Roman"/>
                <a:cs typeface="Times New Roman"/>
              </a:rPr>
              <a:t>and</a:t>
            </a:r>
            <a:r>
              <a:rPr sz="1600" spc="-45" dirty="0">
                <a:latin typeface="Times New Roman"/>
                <a:cs typeface="Times New Roman"/>
              </a:rPr>
              <a:t> </a:t>
            </a:r>
            <a:r>
              <a:rPr lang="en-IN" sz="1600" spc="-45" dirty="0">
                <a:latin typeface="Times New Roman"/>
                <a:cs typeface="Times New Roman"/>
              </a:rPr>
              <a:t>17</a:t>
            </a:r>
            <a:r>
              <a:rPr sz="1600" spc="-45" dirty="0">
                <a:latin typeface="Times New Roman"/>
                <a:cs typeface="Times New Roman"/>
              </a:rPr>
              <a:t> </a:t>
            </a:r>
            <a:r>
              <a:rPr sz="1600" dirty="0">
                <a:latin typeface="Times New Roman"/>
                <a:cs typeface="Times New Roman"/>
              </a:rPr>
              <a:t>columns</a:t>
            </a:r>
            <a:r>
              <a:rPr sz="1600" spc="-50" dirty="0">
                <a:latin typeface="Times New Roman"/>
                <a:cs typeface="Times New Roman"/>
              </a:rPr>
              <a:t> </a:t>
            </a:r>
            <a:r>
              <a:rPr sz="1600" dirty="0">
                <a:latin typeface="Times New Roman"/>
                <a:cs typeface="Times New Roman"/>
              </a:rPr>
              <a:t>representing</a:t>
            </a:r>
            <a:r>
              <a:rPr sz="1600" spc="-45" dirty="0">
                <a:latin typeface="Times New Roman"/>
                <a:cs typeface="Times New Roman"/>
              </a:rPr>
              <a:t> </a:t>
            </a:r>
            <a:r>
              <a:rPr lang="en-IN" sz="1600" spc="-45" dirty="0">
                <a:latin typeface="Times New Roman"/>
                <a:cs typeface="Times New Roman"/>
              </a:rPr>
              <a:t>information about people and popularity of their articles.</a:t>
            </a:r>
          </a:p>
          <a:p>
            <a:pPr marL="12065" marR="215900">
              <a:lnSpc>
                <a:spcPct val="100000"/>
              </a:lnSpc>
              <a:spcBef>
                <a:spcPts val="100"/>
              </a:spcBef>
              <a:tabLst>
                <a:tab pos="232410" algn="l"/>
              </a:tabLst>
            </a:pPr>
            <a:endParaRPr lang="en-IN" sz="1600" spc="-45" dirty="0">
              <a:latin typeface="Times New Roman"/>
              <a:cs typeface="Times New Roman"/>
            </a:endParaRPr>
          </a:p>
          <a:p>
            <a:pPr marL="297815" marR="215900" indent="-285750">
              <a:lnSpc>
                <a:spcPct val="100000"/>
              </a:lnSpc>
              <a:spcBef>
                <a:spcPts val="100"/>
              </a:spcBef>
              <a:buFont typeface="Arial" panose="020B0604020202020204" pitchFamily="34" charset="0"/>
              <a:buChar char="•"/>
              <a:tabLst>
                <a:tab pos="232410" algn="l"/>
              </a:tabLst>
            </a:pPr>
            <a:r>
              <a:rPr lang="en-IN" sz="1600" spc="-45" dirty="0">
                <a:latin typeface="Times New Roman"/>
                <a:cs typeface="Times New Roman"/>
              </a:rPr>
              <a:t>It includes </a:t>
            </a:r>
            <a:r>
              <a:rPr lang="en-US" sz="1600" spc="-40" dirty="0">
                <a:latin typeface="Times New Roman"/>
                <a:cs typeface="Times New Roman"/>
              </a:rPr>
              <a:t>10 </a:t>
            </a:r>
            <a:r>
              <a:rPr lang="en-US" sz="1600" spc="-10" dirty="0">
                <a:latin typeface="Times New Roman"/>
                <a:cs typeface="Times New Roman"/>
              </a:rPr>
              <a:t>categorical</a:t>
            </a:r>
            <a:r>
              <a:rPr lang="en-US" sz="1600" spc="-40" dirty="0">
                <a:latin typeface="Times New Roman"/>
                <a:cs typeface="Times New Roman"/>
              </a:rPr>
              <a:t> </a:t>
            </a:r>
            <a:r>
              <a:rPr lang="en-US" sz="1600" dirty="0">
                <a:latin typeface="Times New Roman"/>
                <a:cs typeface="Times New Roman"/>
              </a:rPr>
              <a:t>and</a:t>
            </a:r>
            <a:r>
              <a:rPr lang="en-US" sz="1600" spc="-30" dirty="0">
                <a:latin typeface="Times New Roman"/>
                <a:cs typeface="Times New Roman"/>
              </a:rPr>
              <a:t> 7</a:t>
            </a:r>
            <a:r>
              <a:rPr lang="en-US" sz="1600" spc="-35" dirty="0">
                <a:latin typeface="Times New Roman"/>
                <a:cs typeface="Times New Roman"/>
              </a:rPr>
              <a:t> </a:t>
            </a:r>
            <a:r>
              <a:rPr lang="en-US" sz="1600" spc="-10" dirty="0">
                <a:latin typeface="Times New Roman"/>
                <a:cs typeface="Times New Roman"/>
              </a:rPr>
              <a:t>numerical</a:t>
            </a:r>
            <a:r>
              <a:rPr lang="en-US" sz="1600" spc="-40" dirty="0">
                <a:latin typeface="Times New Roman"/>
                <a:cs typeface="Times New Roman"/>
              </a:rPr>
              <a:t> </a:t>
            </a:r>
            <a:r>
              <a:rPr lang="en-US" sz="1600" dirty="0">
                <a:latin typeface="Times New Roman"/>
                <a:cs typeface="Times New Roman"/>
              </a:rPr>
              <a:t>column</a:t>
            </a:r>
            <a:r>
              <a:rPr lang="en-IN" sz="1600" dirty="0">
                <a:latin typeface="Times New Roman"/>
                <a:cs typeface="Times New Roman"/>
              </a:rPr>
              <a:t>s.</a:t>
            </a:r>
          </a:p>
          <a:p>
            <a:pPr marL="297815" marR="215900" indent="-285750">
              <a:lnSpc>
                <a:spcPct val="100000"/>
              </a:lnSpc>
              <a:spcBef>
                <a:spcPts val="100"/>
              </a:spcBef>
              <a:buFont typeface="Arial" panose="020B0604020202020204" pitchFamily="34" charset="0"/>
              <a:buChar char="•"/>
              <a:tabLst>
                <a:tab pos="232410" algn="l"/>
              </a:tabLst>
            </a:pPr>
            <a:endParaRPr lang="en-IN" sz="1600" spc="-10" dirty="0">
              <a:latin typeface="Times New Roman"/>
              <a:cs typeface="Times New Roman"/>
            </a:endParaRPr>
          </a:p>
          <a:p>
            <a:pPr marL="285750" indent="-285750" latinLnBrk="1">
              <a:buFont typeface="Arial" panose="020B0604020202020204" pitchFamily="34" charset="0"/>
              <a:buChar char="•"/>
            </a:pPr>
            <a:r>
              <a:rPr sz="1600" dirty="0">
                <a:latin typeface="Times New Roman"/>
                <a:cs typeface="Times New Roman"/>
              </a:rPr>
              <a:t>Columns</a:t>
            </a:r>
            <a:r>
              <a:rPr sz="1600" spc="-90" dirty="0">
                <a:latin typeface="Times New Roman"/>
                <a:cs typeface="Times New Roman"/>
              </a:rPr>
              <a:t> </a:t>
            </a:r>
            <a:r>
              <a:rPr sz="1600" dirty="0">
                <a:latin typeface="Times New Roman"/>
                <a:cs typeface="Times New Roman"/>
              </a:rPr>
              <a:t>include:</a:t>
            </a:r>
            <a:r>
              <a:rPr lang="en-IN" sz="1600" dirty="0">
                <a:latin typeface="Times New Roman"/>
                <a:cs typeface="Times New Roman"/>
              </a:rPr>
              <a:t> </a:t>
            </a:r>
            <a:r>
              <a:rPr lang="en-IN" sz="1600" dirty="0" err="1">
                <a:latin typeface="Times New Roman"/>
                <a:cs typeface="Times New Roman"/>
              </a:rPr>
              <a:t>article_id</a:t>
            </a:r>
            <a:r>
              <a:rPr lang="en-IN" sz="1600" dirty="0">
                <a:latin typeface="Times New Roman"/>
                <a:cs typeface="Times New Roman"/>
              </a:rPr>
              <a:t>, </a:t>
            </a:r>
            <a:r>
              <a:rPr lang="en-IN" sz="1600" dirty="0" err="1">
                <a:latin typeface="Times New Roman"/>
                <a:cs typeface="Times New Roman"/>
              </a:rPr>
              <a:t>full_name</a:t>
            </a:r>
            <a:r>
              <a:rPr lang="en-IN" sz="1600" dirty="0">
                <a:latin typeface="Times New Roman"/>
                <a:cs typeface="Times New Roman"/>
              </a:rPr>
              <a:t>, sex, </a:t>
            </a:r>
            <a:r>
              <a:rPr lang="en-IN" sz="1600" dirty="0" err="1">
                <a:latin typeface="Times New Roman"/>
                <a:cs typeface="Times New Roman"/>
              </a:rPr>
              <a:t>birth_year</a:t>
            </a:r>
            <a:r>
              <a:rPr lang="en-IN" sz="1600" dirty="0">
                <a:latin typeface="Times New Roman"/>
                <a:cs typeface="Times New Roman"/>
              </a:rPr>
              <a:t>, city, state, </a:t>
            </a:r>
            <a:r>
              <a:rPr lang="en-IN" sz="1600" dirty="0" err="1">
                <a:latin typeface="Times New Roman"/>
                <a:cs typeface="Times New Roman"/>
              </a:rPr>
              <a:t>country,continent</a:t>
            </a:r>
            <a:r>
              <a:rPr lang="en-IN" sz="1600" dirty="0">
                <a:latin typeface="Times New Roman"/>
                <a:cs typeface="Times New Roman"/>
              </a:rPr>
              <a:t>, latitude, longitude, occupation, industry, domain, </a:t>
            </a:r>
            <a:r>
              <a:rPr lang="en-IN" sz="1600" dirty="0" err="1">
                <a:latin typeface="Times New Roman"/>
                <a:cs typeface="Times New Roman"/>
              </a:rPr>
              <a:t>article_languages</a:t>
            </a:r>
            <a:r>
              <a:rPr lang="en-IN" sz="1600" dirty="0">
                <a:latin typeface="Times New Roman"/>
                <a:cs typeface="Times New Roman"/>
              </a:rPr>
              <a:t>,</a:t>
            </a:r>
          </a:p>
          <a:p>
            <a:pPr latinLnBrk="1"/>
            <a:r>
              <a:rPr lang="en-IN" sz="1600" dirty="0">
                <a:latin typeface="Times New Roman"/>
                <a:cs typeface="Times New Roman"/>
              </a:rPr>
              <a:t>     </a:t>
            </a:r>
            <a:r>
              <a:rPr lang="en-IN" sz="1600" dirty="0" err="1">
                <a:latin typeface="Times New Roman"/>
                <a:cs typeface="Times New Roman"/>
              </a:rPr>
              <a:t>page_views</a:t>
            </a:r>
            <a:r>
              <a:rPr lang="en-IN" sz="1600" dirty="0">
                <a:latin typeface="Times New Roman"/>
                <a:cs typeface="Times New Roman"/>
              </a:rPr>
              <a:t>, </a:t>
            </a:r>
            <a:r>
              <a:rPr lang="en-IN" sz="1600" dirty="0" err="1">
                <a:latin typeface="Times New Roman"/>
                <a:cs typeface="Times New Roman"/>
              </a:rPr>
              <a:t>average_views</a:t>
            </a:r>
            <a:r>
              <a:rPr lang="en-IN" sz="1600" dirty="0">
                <a:latin typeface="Times New Roman"/>
                <a:cs typeface="Times New Roman"/>
              </a:rPr>
              <a:t>, </a:t>
            </a:r>
            <a:r>
              <a:rPr lang="en-IN" sz="1600" dirty="0" err="1">
                <a:latin typeface="Times New Roman"/>
                <a:cs typeface="Times New Roman"/>
              </a:rPr>
              <a:t>historical_popularity_index</a:t>
            </a:r>
            <a:r>
              <a:rPr lang="en-IN" sz="1600" dirty="0">
                <a:latin typeface="Times New Roman"/>
                <a:cs typeface="Times New Roman"/>
              </a:rPr>
              <a:t> </a:t>
            </a:r>
          </a:p>
          <a:p>
            <a:pPr latinLnBrk="1"/>
            <a:r>
              <a:rPr lang="en-IN" dirty="0">
                <a:latin typeface="Times New Roman"/>
                <a:cs typeface="Times New Roman"/>
              </a:rPr>
              <a:t>   </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78117" y="716796"/>
            <a:ext cx="8475980" cy="3947795"/>
          </a:xfrm>
          <a:custGeom>
            <a:avLst/>
            <a:gdLst/>
            <a:ahLst/>
            <a:cxnLst/>
            <a:rect l="l" t="t" r="r" b="b"/>
            <a:pathLst>
              <a:path w="8475980" h="3947795">
                <a:moveTo>
                  <a:pt x="0" y="0"/>
                </a:moveTo>
                <a:lnTo>
                  <a:pt x="8475677" y="0"/>
                </a:lnTo>
                <a:lnTo>
                  <a:pt x="8475677" y="3947234"/>
                </a:lnTo>
                <a:lnTo>
                  <a:pt x="0" y="3947234"/>
                </a:lnTo>
                <a:lnTo>
                  <a:pt x="0" y="0"/>
                </a:lnTo>
                <a:close/>
              </a:path>
            </a:pathLst>
          </a:custGeom>
          <a:ln w="9524">
            <a:solidFill>
              <a:srgbClr val="000000"/>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235212" rIns="0" bIns="0" rtlCol="0">
            <a:spAutoFit/>
          </a:bodyPr>
          <a:lstStyle/>
          <a:p>
            <a:pPr marL="12700">
              <a:lnSpc>
                <a:spcPct val="100000"/>
              </a:lnSpc>
              <a:spcBef>
                <a:spcPts val="100"/>
              </a:spcBef>
            </a:pPr>
            <a:r>
              <a:rPr sz="2400" dirty="0">
                <a:latin typeface="Times New Roman"/>
                <a:cs typeface="Times New Roman"/>
              </a:rPr>
              <a:t>Simple</a:t>
            </a:r>
            <a:r>
              <a:rPr sz="2400" spc="-40" dirty="0">
                <a:latin typeface="Times New Roman"/>
                <a:cs typeface="Times New Roman"/>
              </a:rPr>
              <a:t> </a:t>
            </a:r>
            <a:r>
              <a:rPr sz="2400" dirty="0">
                <a:latin typeface="Times New Roman"/>
                <a:cs typeface="Times New Roman"/>
              </a:rPr>
              <a:t>description</a:t>
            </a:r>
            <a:r>
              <a:rPr sz="2400" spc="-25" dirty="0">
                <a:latin typeface="Times New Roman"/>
                <a:cs typeface="Times New Roman"/>
              </a:rPr>
              <a:t> </a:t>
            </a:r>
            <a:r>
              <a:rPr sz="2400" dirty="0">
                <a:latin typeface="Times New Roman"/>
                <a:cs typeface="Times New Roman"/>
              </a:rPr>
              <a:t>of</a:t>
            </a:r>
            <a:r>
              <a:rPr sz="2400" spc="-25" dirty="0">
                <a:latin typeface="Times New Roman"/>
                <a:cs typeface="Times New Roman"/>
              </a:rPr>
              <a:t> </a:t>
            </a:r>
            <a:r>
              <a:rPr sz="2400" dirty="0">
                <a:latin typeface="Times New Roman"/>
                <a:cs typeface="Times New Roman"/>
              </a:rPr>
              <a:t>each</a:t>
            </a:r>
            <a:r>
              <a:rPr sz="2400" spc="-25" dirty="0">
                <a:latin typeface="Times New Roman"/>
                <a:cs typeface="Times New Roman"/>
              </a:rPr>
              <a:t> </a:t>
            </a:r>
            <a:r>
              <a:rPr sz="2400" dirty="0">
                <a:latin typeface="Times New Roman"/>
                <a:cs typeface="Times New Roman"/>
              </a:rPr>
              <a:t>column</a:t>
            </a:r>
            <a:r>
              <a:rPr sz="2400" spc="-30" dirty="0">
                <a:latin typeface="Times New Roman"/>
                <a:cs typeface="Times New Roman"/>
              </a:rPr>
              <a:t> </a:t>
            </a:r>
            <a:r>
              <a:rPr sz="2400" dirty="0">
                <a:latin typeface="Times New Roman"/>
                <a:cs typeface="Times New Roman"/>
              </a:rPr>
              <a:t>in</a:t>
            </a:r>
            <a:r>
              <a:rPr sz="2400" spc="-25" dirty="0">
                <a:latin typeface="Times New Roman"/>
                <a:cs typeface="Times New Roman"/>
              </a:rPr>
              <a:t> </a:t>
            </a:r>
            <a:r>
              <a:rPr sz="2400" dirty="0">
                <a:latin typeface="Times New Roman"/>
                <a:cs typeface="Times New Roman"/>
              </a:rPr>
              <a:t>your</a:t>
            </a:r>
            <a:r>
              <a:rPr sz="2400" spc="-70" dirty="0">
                <a:latin typeface="Times New Roman"/>
                <a:cs typeface="Times New Roman"/>
              </a:rPr>
              <a:t> </a:t>
            </a:r>
            <a:r>
              <a:rPr sz="2400" spc="-10" dirty="0">
                <a:latin typeface="Times New Roman"/>
                <a:cs typeface="Times New Roman"/>
              </a:rPr>
              <a:t>dataset:</a:t>
            </a:r>
            <a:endParaRPr sz="2400" dirty="0">
              <a:latin typeface="Times New Roman"/>
              <a:cs typeface="Times New Roman"/>
            </a:endParaRPr>
          </a:p>
        </p:txBody>
      </p:sp>
      <p:sp>
        <p:nvSpPr>
          <p:cNvPr id="4" name="object 4"/>
          <p:cNvSpPr txBox="1"/>
          <p:nvPr/>
        </p:nvSpPr>
        <p:spPr>
          <a:xfrm>
            <a:off x="5562601" y="1581150"/>
            <a:ext cx="1676400" cy="818173"/>
          </a:xfrm>
          <a:prstGeom prst="rect">
            <a:avLst/>
          </a:prstGeom>
        </p:spPr>
        <p:txBody>
          <a:bodyPr vert="horz" wrap="square" lIns="0" tIns="12700" rIns="0" bIns="0" rtlCol="0">
            <a:spAutoFit/>
          </a:bodyPr>
          <a:lstStyle/>
          <a:p>
            <a:pPr marL="200660" indent="-187960">
              <a:lnSpc>
                <a:spcPct val="100000"/>
              </a:lnSpc>
              <a:spcBef>
                <a:spcPts val="1680"/>
              </a:spcBef>
              <a:buFont typeface="Arial MT"/>
              <a:buChar char="•"/>
              <a:tabLst>
                <a:tab pos="200660" algn="l"/>
              </a:tabLst>
            </a:pPr>
            <a:endParaRPr lang="en-IN" sz="800" spc="-10" dirty="0">
              <a:latin typeface="Calibri"/>
              <a:cs typeface="Calibri"/>
            </a:endParaRPr>
          </a:p>
          <a:p>
            <a:pPr marL="200660" indent="-187960">
              <a:lnSpc>
                <a:spcPct val="100000"/>
              </a:lnSpc>
              <a:spcBef>
                <a:spcPts val="1680"/>
              </a:spcBef>
              <a:buFont typeface="Arial MT"/>
              <a:buChar char="•"/>
              <a:tabLst>
                <a:tab pos="200660" algn="l"/>
              </a:tabLst>
            </a:pPr>
            <a:endParaRPr lang="en-IN" sz="800" spc="-10" dirty="0">
              <a:latin typeface="Calibri"/>
              <a:cs typeface="Calibri"/>
            </a:endParaRPr>
          </a:p>
          <a:p>
            <a:pPr marL="200660" indent="-187960">
              <a:lnSpc>
                <a:spcPct val="100000"/>
              </a:lnSpc>
              <a:spcBef>
                <a:spcPts val="1680"/>
              </a:spcBef>
              <a:buFont typeface="Arial MT"/>
              <a:buChar char="•"/>
              <a:tabLst>
                <a:tab pos="200660" algn="l"/>
              </a:tabLst>
            </a:pPr>
            <a:endParaRPr lang="en-IN" sz="800" spc="-10" dirty="0">
              <a:latin typeface="Calibri"/>
              <a:cs typeface="Calibri"/>
            </a:endParaRPr>
          </a:p>
        </p:txBody>
      </p:sp>
      <p:sp>
        <p:nvSpPr>
          <p:cNvPr id="8" name="Rectangle 2">
            <a:extLst>
              <a:ext uri="{FF2B5EF4-FFF2-40B4-BE49-F238E27FC236}">
                <a16:creationId xmlns:a16="http://schemas.microsoft.com/office/drawing/2014/main" id="{D5B6D655-3A27-AF3C-C35E-74FBFDA2DCF3}"/>
              </a:ext>
            </a:extLst>
          </p:cNvPr>
          <p:cNvSpPr>
            <a:spLocks noGrp="1" noChangeArrowheads="1"/>
          </p:cNvSpPr>
          <p:nvPr>
            <p:ph sz="half" idx="2"/>
          </p:nvPr>
        </p:nvSpPr>
        <p:spPr bwMode="auto">
          <a:xfrm>
            <a:off x="304800" y="833970"/>
            <a:ext cx="34290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article_id</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Unique ID for each article/person</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full_name</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Name of the person</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sex</a:t>
            </a:r>
            <a:r>
              <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Gender of the person</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birth_year</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Year the person was born</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city </a:t>
            </a:r>
            <a:r>
              <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City the person belongs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state </a:t>
            </a:r>
            <a:r>
              <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State the person lives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country</a:t>
            </a:r>
            <a:r>
              <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Country the person is from</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continent</a:t>
            </a:r>
            <a:r>
              <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Continent the person from</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latitude</a:t>
            </a:r>
            <a:r>
              <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Latitude of the location</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longitude</a:t>
            </a:r>
            <a:r>
              <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Longitude of the location</a:t>
            </a:r>
          </a:p>
          <a:p>
            <a:pPr marR="0" lvl="0" algn="l" defTabSz="914400" rtl="0" eaLnBrk="0" fontAlgn="base" latinLnBrk="0" hangingPunct="0">
              <a:lnSpc>
                <a:spcPct val="100000"/>
              </a:lnSpc>
              <a:spcBef>
                <a:spcPct val="0"/>
              </a:spcBef>
              <a:spcAft>
                <a:spcPct val="0"/>
              </a:spcAft>
              <a:buClrTx/>
              <a:buSzTx/>
              <a:tabLst/>
            </a:pPr>
            <a:endPar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9" name="Rectangle 3">
            <a:extLst>
              <a:ext uri="{FF2B5EF4-FFF2-40B4-BE49-F238E27FC236}">
                <a16:creationId xmlns:a16="http://schemas.microsoft.com/office/drawing/2014/main" id="{2E030E16-7B2C-4A05-BC89-C847D6696B3D}"/>
              </a:ext>
            </a:extLst>
          </p:cNvPr>
          <p:cNvSpPr>
            <a:spLocks noGrp="1" noChangeArrowheads="1"/>
          </p:cNvSpPr>
          <p:nvPr>
            <p:ph sz="half" idx="3"/>
          </p:nvPr>
        </p:nvSpPr>
        <p:spPr bwMode="auto">
          <a:xfrm>
            <a:off x="4114800" y="875829"/>
            <a:ext cx="4401633"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indent="-171450" algn="l" rtl="0" eaLnBrk="0" fontAlgn="base" hangingPunct="0">
              <a:spcBef>
                <a:spcPct val="0"/>
              </a:spcBef>
              <a:spcAft>
                <a:spcPct val="0"/>
              </a:spcAft>
              <a:buFont typeface="Arial" panose="020B0604020202020204" pitchFamily="34" charset="0"/>
              <a:buChar char="•"/>
            </a:pPr>
            <a:r>
              <a:rPr lang="en-US" altLang="en-US" sz="1200" b="1" dirty="0">
                <a:latin typeface="Times New Roman" panose="02020603050405020304" pitchFamily="18" charset="0"/>
                <a:cs typeface="Times New Roman" panose="02020603050405020304" pitchFamily="18" charset="0"/>
              </a:rPr>
              <a:t>occupation</a:t>
            </a:r>
            <a:r>
              <a:rPr lang="en-US" altLang="en-US" sz="1200" dirty="0">
                <a:latin typeface="Times New Roman" panose="02020603050405020304" pitchFamily="18" charset="0"/>
                <a:cs typeface="Times New Roman" panose="02020603050405020304" pitchFamily="18" charset="0"/>
              </a:rPr>
              <a:t> – Person’s job or profession</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industry</a:t>
            </a:r>
            <a:r>
              <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Industry the person works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domain</a:t>
            </a:r>
            <a:r>
              <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Field or area of expertise</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article_languages</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Number of languages the article is available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page_views</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Total number of times the article was viewed</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average_views</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Average number of views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historical_popularity_index</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Overall long-term popularity score</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1200" dirty="0">
              <a:latin typeface="Times New Roman" panose="02020603050405020304" pitchFamily="18" charset="0"/>
              <a:cs typeface="Times New Roman" panose="020206030504050203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33692" y="843732"/>
            <a:ext cx="8458200" cy="3847465"/>
            <a:chOff x="233692" y="843732"/>
            <a:chExt cx="8458200" cy="3847465"/>
          </a:xfrm>
        </p:grpSpPr>
        <p:pic>
          <p:nvPicPr>
            <p:cNvPr id="3" name="object 3"/>
            <p:cNvPicPr/>
            <p:nvPr/>
          </p:nvPicPr>
          <p:blipFill>
            <a:blip r:embed="rId2">
              <a:extLst>
                <a:ext uri="{28A0092B-C50C-407E-A947-70E740481C1C}">
                  <a14:useLocalDpi xmlns:a14="http://schemas.microsoft.com/office/drawing/2010/main" val="0"/>
                </a:ext>
              </a:extLst>
            </a:blip>
            <a:srcRect/>
            <a:stretch/>
          </p:blipFill>
          <p:spPr>
            <a:xfrm>
              <a:off x="233692" y="848495"/>
              <a:ext cx="8458199" cy="3837804"/>
            </a:xfrm>
            <a:prstGeom prst="rect">
              <a:avLst/>
            </a:prstGeom>
          </p:spPr>
        </p:pic>
        <p:sp>
          <p:nvSpPr>
            <p:cNvPr id="4" name="object 4"/>
            <p:cNvSpPr/>
            <p:nvPr/>
          </p:nvSpPr>
          <p:spPr>
            <a:xfrm>
              <a:off x="233692" y="843732"/>
              <a:ext cx="8458200" cy="3847465"/>
            </a:xfrm>
            <a:custGeom>
              <a:avLst/>
              <a:gdLst/>
              <a:ahLst/>
              <a:cxnLst/>
              <a:rect l="l" t="t" r="r" b="b"/>
              <a:pathLst>
                <a:path w="8458200" h="3847465">
                  <a:moveTo>
                    <a:pt x="0" y="0"/>
                  </a:moveTo>
                  <a:lnTo>
                    <a:pt x="8457869" y="0"/>
                  </a:lnTo>
                  <a:lnTo>
                    <a:pt x="8457869" y="3847329"/>
                  </a:lnTo>
                  <a:lnTo>
                    <a:pt x="0" y="3847329"/>
                  </a:lnTo>
                  <a:lnTo>
                    <a:pt x="0" y="0"/>
                  </a:lnTo>
                  <a:close/>
                </a:path>
              </a:pathLst>
            </a:custGeom>
            <a:ln w="9524">
              <a:solidFill>
                <a:srgbClr val="000000"/>
              </a:solidFill>
            </a:ln>
          </p:spPr>
          <p:txBody>
            <a:bodyPr wrap="square" lIns="0" tIns="0" rIns="0" bIns="0" rtlCol="0"/>
            <a:lstStyle/>
            <a:p>
              <a:endParaRPr/>
            </a:p>
          </p:txBody>
        </p:sp>
      </p:grpSp>
      <p:sp>
        <p:nvSpPr>
          <p:cNvPr id="5" name="object 5"/>
          <p:cNvSpPr txBox="1">
            <a:spLocks noGrp="1"/>
          </p:cNvSpPr>
          <p:nvPr>
            <p:ph type="title"/>
          </p:nvPr>
        </p:nvSpPr>
        <p:spPr>
          <a:prstGeom prst="rect">
            <a:avLst/>
          </a:prstGeom>
        </p:spPr>
        <p:txBody>
          <a:bodyPr vert="horz" wrap="square" lIns="0" tIns="235212" rIns="0" bIns="0" rtlCol="0">
            <a:spAutoFit/>
          </a:bodyPr>
          <a:lstStyle/>
          <a:p>
            <a:pPr marL="12700">
              <a:lnSpc>
                <a:spcPct val="100000"/>
              </a:lnSpc>
              <a:spcBef>
                <a:spcPts val="100"/>
              </a:spcBef>
            </a:pPr>
            <a:r>
              <a:rPr sz="2400" dirty="0">
                <a:latin typeface="Times New Roman"/>
                <a:cs typeface="Times New Roman"/>
              </a:rPr>
              <a:t>Reading</a:t>
            </a:r>
            <a:r>
              <a:rPr sz="2400" spc="-90" dirty="0">
                <a:latin typeface="Times New Roman"/>
                <a:cs typeface="Times New Roman"/>
              </a:rPr>
              <a:t> </a:t>
            </a:r>
            <a:r>
              <a:rPr sz="2400" spc="-10" dirty="0">
                <a:latin typeface="Times New Roman"/>
                <a:cs typeface="Times New Roman"/>
              </a:rPr>
              <a:t>Dataset</a:t>
            </a:r>
            <a:endParaRPr sz="2400" dirty="0">
              <a:latin typeface="Times New Roman"/>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D4711B-2CD8-C600-BEBA-CE2D7CD7E8AC}"/>
              </a:ext>
            </a:extLst>
          </p:cNvPr>
          <p:cNvSpPr>
            <a:spLocks noGrp="1"/>
          </p:cNvSpPr>
          <p:nvPr>
            <p:ph type="title"/>
          </p:nvPr>
        </p:nvSpPr>
        <p:spPr>
          <a:xfrm>
            <a:off x="1295400" y="2114550"/>
            <a:ext cx="6934200" cy="1000274"/>
          </a:xfrm>
        </p:spPr>
        <p:txBody>
          <a:bodyPr/>
          <a:lstStyle/>
          <a:p>
            <a:r>
              <a:rPr lang="en-IN" sz="3200" dirty="0">
                <a:latin typeface="Times New Roman" panose="02020603050405020304" pitchFamily="18" charset="0"/>
                <a:cs typeface="Times New Roman" panose="02020603050405020304" pitchFamily="18" charset="0"/>
              </a:rPr>
              <a:t>     </a:t>
            </a:r>
            <a:r>
              <a:rPr lang="en-IN" sz="3000" dirty="0">
                <a:latin typeface="Times New Roman" panose="02020603050405020304" pitchFamily="18" charset="0"/>
                <a:cs typeface="Times New Roman" panose="02020603050405020304" pitchFamily="18" charset="0"/>
              </a:rPr>
              <a:t>Phase 1 : Data Understanding</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076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8422" y="79019"/>
            <a:ext cx="8747155" cy="382156"/>
          </a:xfrm>
          <a:prstGeom prst="rect">
            <a:avLst/>
          </a:prstGeom>
        </p:spPr>
        <p:txBody>
          <a:bodyPr vert="horz" wrap="square" lIns="0" tIns="12700" rIns="0" bIns="0" rtlCol="0">
            <a:spAutoFit/>
          </a:bodyPr>
          <a:lstStyle/>
          <a:p>
            <a:pPr marL="12700">
              <a:lnSpc>
                <a:spcPct val="100000"/>
              </a:lnSpc>
              <a:spcBef>
                <a:spcPts val="100"/>
              </a:spcBef>
            </a:pPr>
            <a:r>
              <a:rPr sz="2400" dirty="0">
                <a:latin typeface="Times New Roman" panose="02020603050405020304" pitchFamily="18" charset="0"/>
                <a:cs typeface="Times New Roman" panose="02020603050405020304" pitchFamily="18" charset="0"/>
              </a:rPr>
              <a:t>Basic</a:t>
            </a:r>
            <a:r>
              <a:rPr sz="2400" spc="-2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Checks</a:t>
            </a:r>
          </a:p>
        </p:txBody>
      </p:sp>
      <p:grpSp>
        <p:nvGrpSpPr>
          <p:cNvPr id="3" name="object 3"/>
          <p:cNvGrpSpPr/>
          <p:nvPr/>
        </p:nvGrpSpPr>
        <p:grpSpPr>
          <a:xfrm>
            <a:off x="341993" y="588369"/>
            <a:ext cx="8701428" cy="4009706"/>
            <a:chOff x="196421" y="638785"/>
            <a:chExt cx="8701428" cy="3986683"/>
          </a:xfrm>
        </p:grpSpPr>
        <p:pic>
          <p:nvPicPr>
            <p:cNvPr id="4" name="object 4"/>
            <p:cNvPicPr/>
            <p:nvPr/>
          </p:nvPicPr>
          <p:blipFill>
            <a:blip r:embed="rId3">
              <a:extLst>
                <a:ext uri="{28A0092B-C50C-407E-A947-70E740481C1C}">
                  <a14:useLocalDpi xmlns:a14="http://schemas.microsoft.com/office/drawing/2010/main" val="0"/>
                </a:ext>
              </a:extLst>
            </a:blip>
            <a:srcRect/>
            <a:stretch/>
          </p:blipFill>
          <p:spPr>
            <a:xfrm>
              <a:off x="196422" y="684426"/>
              <a:ext cx="3565850" cy="3856050"/>
            </a:xfrm>
            <a:prstGeom prst="rect">
              <a:avLst/>
            </a:prstGeom>
          </p:spPr>
        </p:pic>
        <p:sp>
          <p:nvSpPr>
            <p:cNvPr id="5" name="object 5"/>
            <p:cNvSpPr/>
            <p:nvPr/>
          </p:nvSpPr>
          <p:spPr>
            <a:xfrm>
              <a:off x="196421" y="638786"/>
              <a:ext cx="3565851" cy="3943985"/>
            </a:xfrm>
            <a:custGeom>
              <a:avLst/>
              <a:gdLst/>
              <a:ahLst/>
              <a:cxnLst/>
              <a:rect l="l" t="t" r="r" b="b"/>
              <a:pathLst>
                <a:path w="4209415" h="3943985">
                  <a:moveTo>
                    <a:pt x="0" y="0"/>
                  </a:moveTo>
                  <a:lnTo>
                    <a:pt x="4208891" y="0"/>
                  </a:lnTo>
                  <a:lnTo>
                    <a:pt x="4208891" y="3943691"/>
                  </a:lnTo>
                  <a:lnTo>
                    <a:pt x="0" y="3943691"/>
                  </a:lnTo>
                  <a:lnTo>
                    <a:pt x="0" y="0"/>
                  </a:lnTo>
                  <a:close/>
                </a:path>
              </a:pathLst>
            </a:custGeom>
            <a:ln w="9524">
              <a:solidFill>
                <a:srgbClr val="000000"/>
              </a:solidFill>
            </a:ln>
          </p:spPr>
          <p:txBody>
            <a:bodyPr wrap="square" lIns="0" tIns="0" rIns="0" bIns="0" rtlCol="0"/>
            <a:lstStyle/>
            <a:p>
              <a:endParaRPr/>
            </a:p>
          </p:txBody>
        </p:sp>
        <p:pic>
          <p:nvPicPr>
            <p:cNvPr id="6" name="object 6"/>
            <p:cNvPicPr/>
            <p:nvPr/>
          </p:nvPicPr>
          <p:blipFill>
            <a:blip r:embed="rId4">
              <a:extLst>
                <a:ext uri="{28A0092B-C50C-407E-A947-70E740481C1C}">
                  <a14:useLocalDpi xmlns:a14="http://schemas.microsoft.com/office/drawing/2010/main" val="0"/>
                </a:ext>
              </a:extLst>
            </a:blip>
            <a:srcRect/>
            <a:stretch/>
          </p:blipFill>
          <p:spPr>
            <a:xfrm>
              <a:off x="3822020" y="681483"/>
              <a:ext cx="4856970" cy="3943985"/>
            </a:xfrm>
            <a:prstGeom prst="rect">
              <a:avLst/>
            </a:prstGeom>
          </p:spPr>
        </p:pic>
        <p:sp>
          <p:nvSpPr>
            <p:cNvPr id="7" name="object 7"/>
            <p:cNvSpPr/>
            <p:nvPr/>
          </p:nvSpPr>
          <p:spPr>
            <a:xfrm>
              <a:off x="3799465" y="638785"/>
              <a:ext cx="5098384" cy="3943985"/>
            </a:xfrm>
            <a:custGeom>
              <a:avLst/>
              <a:gdLst/>
              <a:ahLst/>
              <a:cxnLst/>
              <a:rect l="l" t="t" r="r" b="b"/>
              <a:pathLst>
                <a:path w="4272280" h="3943985">
                  <a:moveTo>
                    <a:pt x="0" y="0"/>
                  </a:moveTo>
                  <a:lnTo>
                    <a:pt x="4272211" y="0"/>
                  </a:lnTo>
                  <a:lnTo>
                    <a:pt x="4272211" y="3943692"/>
                  </a:lnTo>
                  <a:lnTo>
                    <a:pt x="0" y="3943692"/>
                  </a:lnTo>
                  <a:lnTo>
                    <a:pt x="0" y="0"/>
                  </a:lnTo>
                  <a:close/>
                </a:path>
              </a:pathLst>
            </a:custGeom>
            <a:ln w="9524">
              <a:solidFill>
                <a:srgbClr val="000000"/>
              </a:solidFill>
            </a:ln>
          </p:spPr>
          <p:txBody>
            <a:bodyPr wrap="square" lIns="0" tIns="0" rIns="0" bIns="0" rtlCol="0"/>
            <a:lstStyle/>
            <a:p>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 y="0"/>
            <a:ext cx="8915400" cy="675313"/>
          </a:xfrm>
          <a:prstGeom prst="rect">
            <a:avLst/>
          </a:prstGeom>
        </p:spPr>
        <p:txBody>
          <a:bodyPr vert="horz" wrap="square" lIns="0" tIns="303022" rIns="0" bIns="0" rtlCol="0">
            <a:spAutoFit/>
          </a:bodyPr>
          <a:lstStyle/>
          <a:p>
            <a:pPr marL="201295">
              <a:lnSpc>
                <a:spcPct val="100000"/>
              </a:lnSpc>
              <a:spcBef>
                <a:spcPts val="100"/>
              </a:spcBef>
            </a:pPr>
            <a:r>
              <a:rPr lang="en-US" sz="2400" dirty="0">
                <a:latin typeface="Times New Roman" panose="02020603050405020304" pitchFamily="18" charset="0"/>
                <a:cs typeface="Times New Roman" panose="02020603050405020304" pitchFamily="18" charset="0"/>
              </a:rPr>
              <a:t>Identify columns that require cleaning or preprocessing</a:t>
            </a:r>
            <a:endParaRPr sz="240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body" idx="1"/>
          </p:nvPr>
        </p:nvSpPr>
        <p:spPr>
          <a:xfrm>
            <a:off x="4343400" y="1352550"/>
            <a:ext cx="4331970" cy="1954381"/>
          </a:xfrm>
          <a:prstGeom prst="rect">
            <a:avLst/>
          </a:prstGeom>
        </p:spPr>
        <p:txBody>
          <a:bodyPr vert="horz" wrap="square" lIns="0" tIns="12700" rIns="0" bIns="0" rtlCol="0">
            <a:spAutoFit/>
          </a:bodyPr>
          <a:lstStyle/>
          <a:p>
            <a:pPr marL="303530" indent="-187960">
              <a:lnSpc>
                <a:spcPct val="100000"/>
              </a:lnSpc>
              <a:spcBef>
                <a:spcPts val="100"/>
              </a:spcBef>
              <a:buFont typeface="Arial MT"/>
              <a:buChar char="•"/>
              <a:tabLst>
                <a:tab pos="303530" algn="l"/>
              </a:tabLst>
            </a:pPr>
            <a:r>
              <a:rPr lang="en-IN" spc="-10" dirty="0">
                <a:latin typeface="Times New Roman" panose="02020603050405020304" pitchFamily="18" charset="0"/>
                <a:cs typeface="Times New Roman" panose="02020603050405020304" pitchFamily="18" charset="0"/>
              </a:rPr>
              <a:t>5 </a:t>
            </a:r>
            <a:r>
              <a:rPr spc="-10" dirty="0">
                <a:latin typeface="Times New Roman" panose="02020603050405020304" pitchFamily="18" charset="0"/>
                <a:cs typeface="Times New Roman" panose="02020603050405020304" pitchFamily="18" charset="0"/>
              </a:rPr>
              <a:t>Columns</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have</a:t>
            </a:r>
            <a:r>
              <a:rPr spc="-30"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Missing</a:t>
            </a:r>
            <a:r>
              <a:rPr spc="-25"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Values</a:t>
            </a:r>
          </a:p>
          <a:p>
            <a:pPr marL="303530" indent="-187960">
              <a:lnSpc>
                <a:spcPct val="100000"/>
              </a:lnSpc>
              <a:buFont typeface="Arial MT"/>
              <a:buChar char="•"/>
              <a:tabLst>
                <a:tab pos="303530" algn="l"/>
              </a:tabLst>
            </a:pPr>
            <a:r>
              <a:rPr dirty="0">
                <a:latin typeface="Times New Roman" panose="02020603050405020304" pitchFamily="18" charset="0"/>
                <a:cs typeface="Times New Roman" panose="02020603050405020304" pitchFamily="18" charset="0"/>
              </a:rPr>
              <a:t>No</a:t>
            </a:r>
            <a:r>
              <a:rPr spc="-10" dirty="0">
                <a:latin typeface="Times New Roman" panose="02020603050405020304" pitchFamily="18" charset="0"/>
                <a:cs typeface="Times New Roman" panose="02020603050405020304" pitchFamily="18" charset="0"/>
              </a:rPr>
              <a:t> duplicates</a:t>
            </a:r>
          </a:p>
          <a:p>
            <a:pPr marL="303530" marR="5080" indent="-187960">
              <a:lnSpc>
                <a:spcPct val="100000"/>
              </a:lnSpc>
              <a:spcBef>
                <a:spcPts val="1680"/>
              </a:spcBef>
              <a:buFont typeface="Arial MT"/>
              <a:buChar char="•"/>
              <a:tabLst>
                <a:tab pos="304800" algn="l"/>
              </a:tabLst>
            </a:pPr>
            <a:r>
              <a:rPr dirty="0">
                <a:latin typeface="Times New Roman" panose="02020603050405020304" pitchFamily="18" charset="0"/>
                <a:cs typeface="Times New Roman" panose="02020603050405020304" pitchFamily="18" charset="0"/>
              </a:rPr>
              <a:t>Now</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t>
            </a:r>
            <a:r>
              <a:rPr lang="en-IN" spc="-10" dirty="0">
                <a:latin typeface="Times New Roman" panose="02020603050405020304" pitchFamily="18" charset="0"/>
                <a:cs typeface="Times New Roman" panose="02020603050405020304" pitchFamily="18" charset="0"/>
              </a:rPr>
              <a:t>P</a:t>
            </a:r>
            <a:r>
              <a:rPr spc="-10" dirty="0" err="1">
                <a:latin typeface="Times New Roman" panose="02020603050405020304" pitchFamily="18" charset="0"/>
                <a:cs typeface="Times New Roman" panose="02020603050405020304" pitchFamily="18" charset="0"/>
              </a:rPr>
              <a:t>erform</a:t>
            </a:r>
            <a:r>
              <a:rPr spc="-2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some</a:t>
            </a:r>
            <a:r>
              <a:rPr spc="-25"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Preprocessing</a:t>
            </a:r>
            <a:r>
              <a:rPr spc="-25" dirty="0">
                <a:latin typeface="Times New Roman" panose="02020603050405020304" pitchFamily="18" charset="0"/>
                <a:cs typeface="Times New Roman" panose="02020603050405020304" pitchFamily="18" charset="0"/>
              </a:rPr>
              <a:t> Techniques on 	</a:t>
            </a:r>
            <a:r>
              <a:rPr spc="-10" dirty="0">
                <a:latin typeface="Times New Roman" panose="02020603050405020304" pitchFamily="18" charset="0"/>
                <a:cs typeface="Times New Roman" panose="02020603050405020304" pitchFamily="18" charset="0"/>
              </a:rPr>
              <a:t>columns</a:t>
            </a:r>
            <a:r>
              <a:rPr spc="-20"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like:</a:t>
            </a:r>
          </a:p>
          <a:p>
            <a:pPr marL="12700" algn="l">
              <a:lnSpc>
                <a:spcPct val="100000"/>
              </a:lnSpc>
            </a:pPr>
            <a:r>
              <a:rPr lang="en-US" spc="110" dirty="0">
                <a:latin typeface="Times New Roman" panose="02020603050405020304" pitchFamily="18" charset="0"/>
                <a:cs typeface="Times New Roman" panose="02020603050405020304" pitchFamily="18" charset="0"/>
              </a:rPr>
              <a:t> </a:t>
            </a:r>
          </a:p>
          <a:p>
            <a:pPr marL="298450" indent="-285750" algn="l">
              <a:lnSpc>
                <a:spcPct val="100000"/>
              </a:lnSpc>
              <a:buFont typeface="Wingdings" panose="05000000000000000000" pitchFamily="2" charset="2"/>
              <a:buChar char="§"/>
            </a:pPr>
            <a:r>
              <a:rPr lang="en-US" spc="-10" dirty="0">
                <a:latin typeface="Times New Roman" panose="02020603050405020304" pitchFamily="18" charset="0"/>
                <a:cs typeface="Times New Roman" panose="02020603050405020304" pitchFamily="18" charset="0"/>
              </a:rPr>
              <a:t>Handling</a:t>
            </a:r>
            <a:r>
              <a:rPr lang="en-US" dirty="0">
                <a:latin typeface="Times New Roman" panose="02020603050405020304" pitchFamily="18" charset="0"/>
                <a:cs typeface="Times New Roman" panose="02020603050405020304" pitchFamily="18" charset="0"/>
              </a:rPr>
              <a:t> </a:t>
            </a:r>
            <a:r>
              <a:rPr lang="en-US" spc="-10" dirty="0">
                <a:latin typeface="Times New Roman" panose="02020603050405020304" pitchFamily="18" charset="0"/>
                <a:cs typeface="Times New Roman" panose="02020603050405020304" pitchFamily="18" charset="0"/>
              </a:rPr>
              <a:t>Missing</a:t>
            </a:r>
            <a:r>
              <a:rPr lang="en-US" spc="-5" dirty="0">
                <a:latin typeface="Times New Roman" panose="02020603050405020304" pitchFamily="18" charset="0"/>
                <a:cs typeface="Times New Roman" panose="02020603050405020304" pitchFamily="18" charset="0"/>
              </a:rPr>
              <a:t> </a:t>
            </a:r>
            <a:r>
              <a:rPr lang="en-US" spc="-10" dirty="0">
                <a:latin typeface="Times New Roman" panose="02020603050405020304" pitchFamily="18" charset="0"/>
                <a:cs typeface="Times New Roman" panose="02020603050405020304" pitchFamily="18" charset="0"/>
              </a:rPr>
              <a:t>Values</a:t>
            </a:r>
          </a:p>
          <a:p>
            <a:pPr marL="298450" indent="-285750" algn="l">
              <a:lnSpc>
                <a:spcPct val="100000"/>
              </a:lnSpc>
              <a:buFont typeface="Wingdings" panose="05000000000000000000" pitchFamily="2" charset="2"/>
              <a:buChar char="§"/>
            </a:pPr>
            <a:r>
              <a:rPr lang="en-US" spc="100" dirty="0">
                <a:latin typeface="Times New Roman" panose="02020603050405020304" pitchFamily="18" charset="0"/>
                <a:cs typeface="Times New Roman" panose="02020603050405020304" pitchFamily="18" charset="0"/>
              </a:rPr>
              <a:t> </a:t>
            </a:r>
            <a:r>
              <a:rPr lang="en-US" spc="-10" dirty="0">
                <a:latin typeface="Times New Roman" panose="02020603050405020304" pitchFamily="18" charset="0"/>
                <a:cs typeface="Times New Roman" panose="02020603050405020304" pitchFamily="18" charset="0"/>
              </a:rPr>
              <a:t>Handling</a:t>
            </a:r>
            <a:r>
              <a:rPr lang="en-US" spc="-5" dirty="0">
                <a:latin typeface="Times New Roman" panose="02020603050405020304" pitchFamily="18" charset="0"/>
                <a:cs typeface="Times New Roman" panose="02020603050405020304" pitchFamily="18" charset="0"/>
              </a:rPr>
              <a:t> </a:t>
            </a:r>
            <a:r>
              <a:rPr lang="en-US" spc="-10" dirty="0">
                <a:latin typeface="Times New Roman" panose="02020603050405020304" pitchFamily="18" charset="0"/>
                <a:cs typeface="Times New Roman" panose="02020603050405020304" pitchFamily="18" charset="0"/>
              </a:rPr>
              <a:t>Inconsistence</a:t>
            </a:r>
            <a:r>
              <a:rPr lang="en-US" spc="-15" dirty="0">
                <a:latin typeface="Times New Roman" panose="02020603050405020304" pitchFamily="18" charset="0"/>
                <a:cs typeface="Times New Roman" panose="02020603050405020304" pitchFamily="18" charset="0"/>
              </a:rPr>
              <a:t> </a:t>
            </a:r>
            <a:r>
              <a:rPr lang="en-US" spc="-20" dirty="0">
                <a:latin typeface="Times New Roman" panose="02020603050405020304" pitchFamily="18" charset="0"/>
                <a:cs typeface="Times New Roman" panose="02020603050405020304" pitchFamily="18" charset="0"/>
              </a:rPr>
              <a:t>Data</a:t>
            </a:r>
            <a:r>
              <a:rPr lang="en-US" spc="75" dirty="0">
                <a:latin typeface="Times New Roman" panose="02020603050405020304" pitchFamily="18" charset="0"/>
                <a:cs typeface="Times New Roman" panose="02020603050405020304" pitchFamily="18" charset="0"/>
              </a:rPr>
              <a:t> </a:t>
            </a:r>
          </a:p>
          <a:p>
            <a:pPr marL="298450" indent="-285750" algn="l">
              <a:lnSpc>
                <a:spcPct val="10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 Data</a:t>
            </a:r>
            <a:r>
              <a:rPr lang="en-US" spc="-25" dirty="0">
                <a:latin typeface="Times New Roman" panose="02020603050405020304" pitchFamily="18" charset="0"/>
                <a:cs typeface="Times New Roman" panose="02020603050405020304" pitchFamily="18" charset="0"/>
              </a:rPr>
              <a:t> </a:t>
            </a:r>
            <a:r>
              <a:rPr lang="en-US" spc="-10" dirty="0">
                <a:latin typeface="Times New Roman" panose="02020603050405020304" pitchFamily="18" charset="0"/>
                <a:cs typeface="Times New Roman" panose="02020603050405020304" pitchFamily="18" charset="0"/>
              </a:rPr>
              <a:t>Type</a:t>
            </a:r>
            <a:r>
              <a:rPr lang="en-US" spc="-30" dirty="0">
                <a:latin typeface="Times New Roman" panose="02020603050405020304" pitchFamily="18" charset="0"/>
                <a:cs typeface="Times New Roman" panose="02020603050405020304" pitchFamily="18" charset="0"/>
              </a:rPr>
              <a:t> </a:t>
            </a:r>
            <a:r>
              <a:rPr lang="en-US" spc="-10" dirty="0">
                <a:latin typeface="Times New Roman" panose="02020603050405020304" pitchFamily="18" charset="0"/>
                <a:cs typeface="Times New Roman" panose="02020603050405020304" pitchFamily="18" charset="0"/>
              </a:rPr>
              <a:t>Conversions</a:t>
            </a:r>
          </a:p>
        </p:txBody>
      </p:sp>
      <p:grpSp>
        <p:nvGrpSpPr>
          <p:cNvPr id="5" name="object 5"/>
          <p:cNvGrpSpPr/>
          <p:nvPr/>
        </p:nvGrpSpPr>
        <p:grpSpPr>
          <a:xfrm>
            <a:off x="468630" y="819150"/>
            <a:ext cx="3327627" cy="3951588"/>
            <a:chOff x="1252537" y="1088541"/>
            <a:chExt cx="2581275" cy="3481070"/>
          </a:xfrm>
        </p:grpSpPr>
        <p:pic>
          <p:nvPicPr>
            <p:cNvPr id="6" name="object 6"/>
            <p:cNvPicPr/>
            <p:nvPr/>
          </p:nvPicPr>
          <p:blipFill>
            <a:blip r:embed="rId2">
              <a:extLst>
                <a:ext uri="{28A0092B-C50C-407E-A947-70E740481C1C}">
                  <a14:useLocalDpi xmlns:a14="http://schemas.microsoft.com/office/drawing/2010/main" val="0"/>
                </a:ext>
              </a:extLst>
            </a:blip>
            <a:srcRect/>
            <a:stretch/>
          </p:blipFill>
          <p:spPr>
            <a:xfrm>
              <a:off x="1252537" y="1093303"/>
              <a:ext cx="2477822" cy="3427020"/>
            </a:xfrm>
            <a:prstGeom prst="rect">
              <a:avLst/>
            </a:prstGeom>
          </p:spPr>
        </p:pic>
        <p:sp>
          <p:nvSpPr>
            <p:cNvPr id="7" name="object 7"/>
            <p:cNvSpPr/>
            <p:nvPr/>
          </p:nvSpPr>
          <p:spPr>
            <a:xfrm>
              <a:off x="1252537" y="1088541"/>
              <a:ext cx="2581275" cy="3481070"/>
            </a:xfrm>
            <a:custGeom>
              <a:avLst/>
              <a:gdLst/>
              <a:ahLst/>
              <a:cxnLst/>
              <a:rect l="l" t="t" r="r" b="b"/>
              <a:pathLst>
                <a:path w="2581275" h="3481070">
                  <a:moveTo>
                    <a:pt x="0" y="0"/>
                  </a:moveTo>
                  <a:lnTo>
                    <a:pt x="2581274" y="0"/>
                  </a:lnTo>
                  <a:lnTo>
                    <a:pt x="2581274" y="3480765"/>
                  </a:lnTo>
                  <a:lnTo>
                    <a:pt x="0" y="3480765"/>
                  </a:lnTo>
                  <a:lnTo>
                    <a:pt x="0" y="0"/>
                  </a:lnTo>
                  <a:close/>
                </a:path>
              </a:pathLst>
            </a:custGeom>
            <a:ln w="9524">
              <a:solidFill>
                <a:srgbClr val="000000"/>
              </a:solidFill>
            </a:ln>
          </p:spPr>
          <p:txBody>
            <a:bodyPr wrap="square" lIns="0" tIns="0" rIns="0" bIns="0" rtlCol="0"/>
            <a:lstStyle/>
            <a:p>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80A36-85AD-A2AD-B60E-25F814662B32}"/>
              </a:ext>
            </a:extLst>
          </p:cNvPr>
          <p:cNvSpPr>
            <a:spLocks noGrp="1"/>
          </p:cNvSpPr>
          <p:nvPr>
            <p:ph type="title"/>
          </p:nvPr>
        </p:nvSpPr>
        <p:spPr>
          <a:xfrm>
            <a:off x="76200" y="2038350"/>
            <a:ext cx="8991600" cy="507831"/>
          </a:xfrm>
        </p:spPr>
        <p:txBody>
          <a:bodyPr/>
          <a:lstStyle/>
          <a:p>
            <a:r>
              <a:rPr lang="en-IN" dirty="0">
                <a:latin typeface="Times New Roman" panose="02020603050405020304" pitchFamily="18" charset="0"/>
                <a:cs typeface="Times New Roman" panose="02020603050405020304" pitchFamily="18" charset="0"/>
              </a:rPr>
              <a:t>       </a:t>
            </a:r>
            <a:r>
              <a:rPr lang="en-IN" sz="3000" dirty="0">
                <a:latin typeface="Times New Roman" panose="02020603050405020304" pitchFamily="18" charset="0"/>
                <a:cs typeface="Times New Roman" panose="02020603050405020304" pitchFamily="18" charset="0"/>
              </a:rPr>
              <a:t>Phase 2 : Data Cleaning &amp; Manipulation</a:t>
            </a:r>
          </a:p>
        </p:txBody>
      </p:sp>
    </p:spTree>
    <p:extLst>
      <p:ext uri="{BB962C8B-B14F-4D97-AF65-F5344CB8AC3E}">
        <p14:creationId xmlns:p14="http://schemas.microsoft.com/office/powerpoint/2010/main" val="8598444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57399" y="2431161"/>
            <a:ext cx="457200" cy="922019"/>
          </a:xfrm>
          <a:prstGeom prst="rect">
            <a:avLst/>
          </a:prstGeom>
        </p:spPr>
        <p:txBody>
          <a:bodyPr vert="horz" wrap="square" lIns="0" tIns="0" rIns="0" bIns="0" rtlCol="0">
            <a:spAutoFit/>
          </a:bodyPr>
          <a:lstStyle/>
          <a:p>
            <a:pPr>
              <a:lnSpc>
                <a:spcPts val="3135"/>
              </a:lnSpc>
            </a:pPr>
            <a:r>
              <a:rPr sz="3300" b="1" spc="-25" dirty="0">
                <a:solidFill>
                  <a:srgbClr val="FF0000"/>
                </a:solidFill>
                <a:latin typeface="Calibri"/>
                <a:cs typeface="Calibri"/>
              </a:rPr>
              <a:t>jkr</a:t>
            </a:r>
            <a:endParaRPr sz="3300">
              <a:latin typeface="Calibri"/>
              <a:cs typeface="Calibri"/>
            </a:endParaRPr>
          </a:p>
          <a:p>
            <a:pPr>
              <a:lnSpc>
                <a:spcPct val="100000"/>
              </a:lnSpc>
            </a:pPr>
            <a:r>
              <a:rPr sz="3300" b="1" spc="-25" dirty="0">
                <a:solidFill>
                  <a:srgbClr val="FF0000"/>
                </a:solidFill>
                <a:latin typeface="Calibri"/>
                <a:cs typeface="Calibri"/>
              </a:rPr>
              <a:t>jk</a:t>
            </a:r>
            <a:endParaRPr sz="3300">
              <a:latin typeface="Calibri"/>
              <a:cs typeface="Calibri"/>
            </a:endParaRPr>
          </a:p>
        </p:txBody>
      </p:sp>
      <p:grpSp>
        <p:nvGrpSpPr>
          <p:cNvPr id="3" name="object 3"/>
          <p:cNvGrpSpPr/>
          <p:nvPr/>
        </p:nvGrpSpPr>
        <p:grpSpPr>
          <a:xfrm>
            <a:off x="381000" y="666750"/>
            <a:ext cx="4124325" cy="4296410"/>
            <a:chOff x="376237" y="282956"/>
            <a:chExt cx="4124325" cy="4296410"/>
          </a:xfrm>
        </p:grpSpPr>
        <p:pic>
          <p:nvPicPr>
            <p:cNvPr id="4" name="object 4"/>
            <p:cNvPicPr/>
            <p:nvPr/>
          </p:nvPicPr>
          <p:blipFill>
            <a:blip r:embed="rId2">
              <a:extLst>
                <a:ext uri="{28A0092B-C50C-407E-A947-70E740481C1C}">
                  <a14:useLocalDpi xmlns:a14="http://schemas.microsoft.com/office/drawing/2010/main" val="0"/>
                </a:ext>
              </a:extLst>
            </a:blip>
            <a:srcRect/>
            <a:stretch/>
          </p:blipFill>
          <p:spPr>
            <a:xfrm>
              <a:off x="376237" y="320283"/>
              <a:ext cx="4124325" cy="4156467"/>
            </a:xfrm>
            <a:prstGeom prst="rect">
              <a:avLst/>
            </a:prstGeom>
          </p:spPr>
        </p:pic>
        <p:sp>
          <p:nvSpPr>
            <p:cNvPr id="5" name="object 5"/>
            <p:cNvSpPr/>
            <p:nvPr/>
          </p:nvSpPr>
          <p:spPr>
            <a:xfrm>
              <a:off x="376237" y="282956"/>
              <a:ext cx="4124325" cy="4296410"/>
            </a:xfrm>
            <a:custGeom>
              <a:avLst/>
              <a:gdLst/>
              <a:ahLst/>
              <a:cxnLst/>
              <a:rect l="l" t="t" r="r" b="b"/>
              <a:pathLst>
                <a:path w="4124325" h="4296410">
                  <a:moveTo>
                    <a:pt x="0" y="0"/>
                  </a:moveTo>
                  <a:lnTo>
                    <a:pt x="4124324" y="0"/>
                  </a:lnTo>
                  <a:lnTo>
                    <a:pt x="4124324" y="4295865"/>
                  </a:lnTo>
                  <a:lnTo>
                    <a:pt x="0" y="4295865"/>
                  </a:lnTo>
                  <a:lnTo>
                    <a:pt x="0" y="0"/>
                  </a:lnTo>
                  <a:close/>
                </a:path>
              </a:pathLst>
            </a:custGeom>
            <a:ln w="9524">
              <a:solidFill>
                <a:srgbClr val="000000"/>
              </a:solidFill>
            </a:ln>
          </p:spPr>
          <p:txBody>
            <a:bodyPr wrap="square" lIns="0" tIns="0" rIns="0" bIns="0" rtlCol="0"/>
            <a:lstStyle/>
            <a:p>
              <a:endParaRPr dirty="0"/>
            </a:p>
          </p:txBody>
        </p:sp>
      </p:grpSp>
      <p:sp>
        <p:nvSpPr>
          <p:cNvPr id="8" name="TextBox 7">
            <a:extLst>
              <a:ext uri="{FF2B5EF4-FFF2-40B4-BE49-F238E27FC236}">
                <a16:creationId xmlns:a16="http://schemas.microsoft.com/office/drawing/2014/main" id="{5F725654-A68C-BAEB-A5B8-09605CEE6E32}"/>
              </a:ext>
            </a:extLst>
          </p:cNvPr>
          <p:cNvSpPr txBox="1"/>
          <p:nvPr/>
        </p:nvSpPr>
        <p:spPr>
          <a:xfrm>
            <a:off x="76200" y="89879"/>
            <a:ext cx="6838411"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Handling Missing Values</a:t>
            </a:r>
          </a:p>
        </p:txBody>
      </p:sp>
      <p:sp>
        <p:nvSpPr>
          <p:cNvPr id="10" name="TextBox 9">
            <a:extLst>
              <a:ext uri="{FF2B5EF4-FFF2-40B4-BE49-F238E27FC236}">
                <a16:creationId xmlns:a16="http://schemas.microsoft.com/office/drawing/2014/main" id="{E9FC7132-F000-6B27-8963-B2543E5F4CE7}"/>
              </a:ext>
            </a:extLst>
          </p:cNvPr>
          <p:cNvSpPr txBox="1"/>
          <p:nvPr/>
        </p:nvSpPr>
        <p:spPr>
          <a:xfrm>
            <a:off x="5181600" y="876889"/>
            <a:ext cx="3276600" cy="3108543"/>
          </a:xfrm>
          <a:prstGeom prst="rect">
            <a:avLst/>
          </a:prstGeom>
          <a:noFill/>
        </p:spPr>
        <p:txBody>
          <a:bodyPr wrap="square" rtlCol="0">
            <a:spAutoFit/>
          </a:bodyPr>
          <a:lstStyle/>
          <a:p>
            <a:pPr marL="66675">
              <a:lnSpc>
                <a:spcPct val="100000"/>
              </a:lnSpc>
              <a:spcBef>
                <a:spcPts val="180"/>
              </a:spcBef>
            </a:pPr>
            <a:r>
              <a:rPr lang="en-US" sz="1400" b="1" spc="-20" dirty="0">
                <a:latin typeface="Times New Roman" panose="02020603050405020304" pitchFamily="18" charset="0"/>
                <a:cs typeface="Times New Roman" panose="02020603050405020304" pitchFamily="18" charset="0"/>
              </a:rPr>
              <a:t>Numerical Column:</a:t>
            </a:r>
          </a:p>
          <a:p>
            <a:pPr marL="66675">
              <a:lnSpc>
                <a:spcPct val="100000"/>
              </a:lnSpc>
              <a:spcBef>
                <a:spcPts val="180"/>
              </a:spcBef>
            </a:pPr>
            <a:endParaRPr lang="en-US" sz="1400" b="1" dirty="0">
              <a:latin typeface="Times New Roman" panose="02020603050405020304" pitchFamily="18" charset="0"/>
              <a:cs typeface="Times New Roman" panose="02020603050405020304" pitchFamily="18" charset="0"/>
            </a:endParaRPr>
          </a:p>
          <a:p>
            <a:pPr marL="66675" marR="388620">
              <a:lnSpc>
                <a:spcPct val="100000"/>
              </a:lnSpc>
            </a:pPr>
            <a:r>
              <a:rPr lang="en-US" sz="1400" spc="-10" dirty="0">
                <a:latin typeface="Times New Roman" panose="02020603050405020304" pitchFamily="18" charset="0"/>
                <a:cs typeface="Times New Roman" panose="02020603050405020304" pitchFamily="18" charset="0"/>
              </a:rPr>
              <a:t>1.</a:t>
            </a:r>
            <a:r>
              <a:rPr lang="en-US" sz="1400" dirty="0">
                <a:latin typeface="Times New Roman" panose="02020603050405020304" pitchFamily="18" charset="0"/>
                <a:cs typeface="Times New Roman" panose="02020603050405020304" pitchFamily="18" charset="0"/>
              </a:rPr>
              <a:t> Missing values filled using median </a:t>
            </a:r>
          </a:p>
          <a:p>
            <a:pPr marL="66675" marR="388620">
              <a:lnSpc>
                <a:spcPct val="100000"/>
              </a:lnSpc>
            </a:pPr>
            <a:r>
              <a:rPr lang="en-US" sz="1400" dirty="0">
                <a:latin typeface="Times New Roman" panose="02020603050405020304" pitchFamily="18" charset="0"/>
                <a:cs typeface="Times New Roman" panose="02020603050405020304" pitchFamily="18" charset="0"/>
              </a:rPr>
              <a:t>2. Suitable for skewed data and outliers</a:t>
            </a:r>
          </a:p>
          <a:p>
            <a:pPr marL="66675">
              <a:lnSpc>
                <a:spcPct val="100000"/>
              </a:lnSpc>
              <a:spcBef>
                <a:spcPts val="180"/>
              </a:spcBef>
            </a:pPr>
            <a:endParaRPr lang="en-US" sz="1400" b="1" spc="-10" dirty="0">
              <a:latin typeface="Times New Roman" panose="02020603050405020304" pitchFamily="18" charset="0"/>
              <a:cs typeface="Times New Roman" panose="02020603050405020304" pitchFamily="18" charset="0"/>
            </a:endParaRPr>
          </a:p>
          <a:p>
            <a:pPr marL="66675">
              <a:lnSpc>
                <a:spcPct val="100000"/>
              </a:lnSpc>
              <a:spcBef>
                <a:spcPts val="180"/>
              </a:spcBef>
            </a:pPr>
            <a:r>
              <a:rPr lang="en-US" sz="1400" b="1" spc="-10" dirty="0">
                <a:latin typeface="Times New Roman" panose="02020603050405020304" pitchFamily="18" charset="0"/>
                <a:cs typeface="Times New Roman" panose="02020603050405020304" pitchFamily="18" charset="0"/>
              </a:rPr>
              <a:t>Categorical Column:</a:t>
            </a:r>
          </a:p>
          <a:p>
            <a:pPr marL="66675">
              <a:lnSpc>
                <a:spcPct val="100000"/>
              </a:lnSpc>
              <a:spcBef>
                <a:spcPts val="180"/>
              </a:spcBef>
            </a:pPr>
            <a:endParaRPr lang="en-US" sz="1400" b="1" spc="-10" dirty="0">
              <a:latin typeface="Times New Roman" panose="02020603050405020304" pitchFamily="18" charset="0"/>
              <a:cs typeface="Times New Roman" panose="02020603050405020304" pitchFamily="18" charset="0"/>
            </a:endParaRPr>
          </a:p>
          <a:p>
            <a:pPr marL="66675">
              <a:lnSpc>
                <a:spcPct val="100000"/>
              </a:lnSpc>
              <a:spcBef>
                <a:spcPts val="180"/>
              </a:spcBef>
            </a:pPr>
            <a:r>
              <a:rPr lang="en-US" sz="1400" dirty="0">
                <a:latin typeface="Times New Roman" panose="02020603050405020304" pitchFamily="18" charset="0"/>
                <a:cs typeface="Times New Roman" panose="02020603050405020304" pitchFamily="18" charset="0"/>
              </a:rPr>
              <a:t>1.Missing values filled with “Unknown”.</a:t>
            </a:r>
          </a:p>
          <a:p>
            <a:pPr marL="66675">
              <a:lnSpc>
                <a:spcPct val="100000"/>
              </a:lnSpc>
              <a:spcBef>
                <a:spcPts val="180"/>
              </a:spcBef>
            </a:pPr>
            <a:r>
              <a:rPr lang="en-US" sz="1400" dirty="0">
                <a:latin typeface="Times New Roman" panose="02020603050405020304" pitchFamily="18" charset="0"/>
                <a:cs typeface="Times New Roman" panose="02020603050405020304" pitchFamily="18" charset="0"/>
              </a:rPr>
              <a:t>2. Preserves rows without making assumptions</a:t>
            </a:r>
          </a:p>
          <a:p>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457200" y="673325"/>
            <a:ext cx="4419600" cy="4084066"/>
            <a:chOff x="3951010" y="223837"/>
            <a:chExt cx="4683760" cy="3267075"/>
          </a:xfrm>
        </p:grpSpPr>
        <p:pic>
          <p:nvPicPr>
            <p:cNvPr id="4" name="object 4"/>
            <p:cNvPicPr/>
            <p:nvPr/>
          </p:nvPicPr>
          <p:blipFill>
            <a:blip r:embed="rId2">
              <a:extLst>
                <a:ext uri="{28A0092B-C50C-407E-A947-70E740481C1C}">
                  <a14:useLocalDpi xmlns:a14="http://schemas.microsoft.com/office/drawing/2010/main" val="0"/>
                </a:ext>
              </a:extLst>
            </a:blip>
            <a:srcRect/>
            <a:stretch/>
          </p:blipFill>
          <p:spPr>
            <a:xfrm>
              <a:off x="3951010" y="284794"/>
              <a:ext cx="4569522" cy="3177543"/>
            </a:xfrm>
            <a:prstGeom prst="rect">
              <a:avLst/>
            </a:prstGeom>
          </p:spPr>
        </p:pic>
        <p:sp>
          <p:nvSpPr>
            <p:cNvPr id="5" name="object 5"/>
            <p:cNvSpPr/>
            <p:nvPr/>
          </p:nvSpPr>
          <p:spPr>
            <a:xfrm>
              <a:off x="3951010" y="223837"/>
              <a:ext cx="4683760" cy="3267075"/>
            </a:xfrm>
            <a:custGeom>
              <a:avLst/>
              <a:gdLst/>
              <a:ahLst/>
              <a:cxnLst/>
              <a:rect l="l" t="t" r="r" b="b"/>
              <a:pathLst>
                <a:path w="4683759" h="3267075">
                  <a:moveTo>
                    <a:pt x="0" y="0"/>
                  </a:moveTo>
                  <a:lnTo>
                    <a:pt x="4683401" y="0"/>
                  </a:lnTo>
                  <a:lnTo>
                    <a:pt x="4683401" y="3267074"/>
                  </a:lnTo>
                  <a:lnTo>
                    <a:pt x="0" y="3267074"/>
                  </a:lnTo>
                  <a:lnTo>
                    <a:pt x="0" y="0"/>
                  </a:lnTo>
                  <a:close/>
                </a:path>
              </a:pathLst>
            </a:custGeom>
            <a:ln w="9524">
              <a:solidFill>
                <a:srgbClr val="000000"/>
              </a:solidFill>
            </a:ln>
          </p:spPr>
          <p:txBody>
            <a:bodyPr wrap="square" lIns="0" tIns="0" rIns="0" bIns="0" rtlCol="0"/>
            <a:lstStyle/>
            <a:p>
              <a:endParaRPr/>
            </a:p>
          </p:txBody>
        </p:sp>
      </p:grpSp>
      <p:sp>
        <p:nvSpPr>
          <p:cNvPr id="10" name="Rectangle 1">
            <a:extLst>
              <a:ext uri="{FF2B5EF4-FFF2-40B4-BE49-F238E27FC236}">
                <a16:creationId xmlns:a16="http://schemas.microsoft.com/office/drawing/2014/main" id="{B5A0F954-C8A0-C16D-D543-AA4CAFFF9CD0}"/>
              </a:ext>
            </a:extLst>
          </p:cNvPr>
          <p:cNvSpPr>
            <a:spLocks noChangeArrowheads="1"/>
          </p:cNvSpPr>
          <p:nvPr/>
        </p:nvSpPr>
        <p:spPr bwMode="auto">
          <a:xfrm>
            <a:off x="5105400" y="632757"/>
            <a:ext cx="3810000" cy="3877985"/>
          </a:xfrm>
          <a:prstGeom prst="rect">
            <a:avLst/>
          </a:prstGeom>
          <a:ln>
            <a:noFill/>
          </a:ln>
          <a:effectLst/>
        </p:spPr>
        <p:style>
          <a:lnRef idx="0">
            <a:scrgbClr r="0" g="0" b="0"/>
          </a:lnRef>
          <a:fillRef idx="1001">
            <a:schemeClr val="lt1"/>
          </a:fillRef>
          <a:effectRef idx="0">
            <a:scrgbClr r="0" g="0" b="0"/>
          </a:effectRef>
          <a:fontRef idx="major"/>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sz="1200" b="1" dirty="0">
                <a:solidFill>
                  <a:schemeClr val="tx1"/>
                </a:solidFill>
                <a:latin typeface="Times New Roman" panose="02020603050405020304" pitchFamily="18" charset="0"/>
                <a:cs typeface="Times New Roman" panose="02020603050405020304" pitchFamily="18" charset="0"/>
              </a:rPr>
              <a:t>Data Type Corrections: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400" dirty="0">
                <a:solidFill>
                  <a:schemeClr val="tx1"/>
                </a:solidFill>
                <a:latin typeface="Times New Roman" panose="02020603050405020304" pitchFamily="18" charset="0"/>
                <a:cs typeface="Times New Roman" panose="02020603050405020304" pitchFamily="18" charset="0"/>
              </a:rPr>
              <a:t> </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Converted </a:t>
            </a:r>
            <a:r>
              <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birth year </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from text (object) to numeric (float64) using </a:t>
            </a:r>
            <a:r>
              <a:rPr kumimoji="0" lang="en-US" altLang="en-US"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pd.to_numeric</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enable age-related calculations and numerical analysis.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errors='coerce' to safely handle any invalid or non-numeric values without breaking the dataset.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Converted repeated text-based columns (</a:t>
            </a:r>
            <a:r>
              <a:rPr kumimoji="0" lang="en-US" altLang="en-US"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full_name</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sex, city, state, country, continent, occupation, industry, domain) to the </a:t>
            </a:r>
            <a:r>
              <a:rPr kumimoji="0" lang="en-US" altLang="en-US" sz="12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ccategory</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type.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Retained numerical columns (</a:t>
            </a:r>
            <a:r>
              <a:rPr kumimoji="0" lang="en-US" altLang="en-US"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article_id</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article_languages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page_views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average_views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as integers to preserve their quantitative meaning.</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Geographic coordinates (latitude, longitude) and popularity score (</a:t>
            </a:r>
            <a:r>
              <a:rPr kumimoji="0" lang="en-US" altLang="en-US"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historical_popularity_index</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were correctly kept as floating-point values.</a:t>
            </a:r>
          </a:p>
        </p:txBody>
      </p:sp>
      <p:sp>
        <p:nvSpPr>
          <p:cNvPr id="17" name="Title 16">
            <a:extLst>
              <a:ext uri="{FF2B5EF4-FFF2-40B4-BE49-F238E27FC236}">
                <a16:creationId xmlns:a16="http://schemas.microsoft.com/office/drawing/2014/main" id="{879C88F9-1CA6-D30E-D4A9-7E2FBF816984}"/>
              </a:ext>
            </a:extLst>
          </p:cNvPr>
          <p:cNvSpPr>
            <a:spLocks noGrp="1"/>
          </p:cNvSpPr>
          <p:nvPr>
            <p:ph type="title"/>
          </p:nvPr>
        </p:nvSpPr>
        <p:spPr>
          <a:xfrm>
            <a:off x="304800" y="145018"/>
            <a:ext cx="8747155" cy="369332"/>
          </a:xfrm>
        </p:spPr>
        <p:txBody>
          <a:bodyPr/>
          <a:lstStyle/>
          <a:p>
            <a:r>
              <a:rPr lang="en-IN" sz="2400" dirty="0">
                <a:latin typeface="Times New Roman" panose="02020603050405020304" pitchFamily="18" charset="0"/>
                <a:cs typeface="Times New Roman" panose="02020603050405020304" pitchFamily="18" charset="0"/>
              </a:rPr>
              <a:t>  Data Type Corrections</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2D8ED-3A9A-684F-612B-E3DA2F1A44A6}"/>
              </a:ext>
            </a:extLst>
          </p:cNvPr>
          <p:cNvSpPr>
            <a:spLocks noGrp="1"/>
          </p:cNvSpPr>
          <p:nvPr>
            <p:ph type="title"/>
          </p:nvPr>
        </p:nvSpPr>
        <p:spPr>
          <a:xfrm>
            <a:off x="198422" y="133350"/>
            <a:ext cx="8747155" cy="369332"/>
          </a:xfrm>
        </p:spPr>
        <p:txBody>
          <a:bodyPr/>
          <a:lstStyle/>
          <a:p>
            <a:r>
              <a:rPr lang="en-IN" sz="2400" dirty="0">
                <a:latin typeface="Times New Roman" panose="02020603050405020304" pitchFamily="18" charset="0"/>
                <a:cs typeface="Times New Roman" panose="02020603050405020304" pitchFamily="18" charset="0"/>
              </a:rPr>
              <a:t>Non Visual Bivariate Insights</a:t>
            </a:r>
          </a:p>
        </p:txBody>
      </p:sp>
      <p:grpSp>
        <p:nvGrpSpPr>
          <p:cNvPr id="3" name="object 4">
            <a:extLst>
              <a:ext uri="{FF2B5EF4-FFF2-40B4-BE49-F238E27FC236}">
                <a16:creationId xmlns:a16="http://schemas.microsoft.com/office/drawing/2014/main" id="{8D185662-D40C-19E0-53C5-C570180D1E8D}"/>
              </a:ext>
            </a:extLst>
          </p:cNvPr>
          <p:cNvGrpSpPr/>
          <p:nvPr/>
        </p:nvGrpSpPr>
        <p:grpSpPr>
          <a:xfrm>
            <a:off x="223839" y="663218"/>
            <a:ext cx="4119562" cy="3817064"/>
            <a:chOff x="223838" y="663218"/>
            <a:chExt cx="4124325" cy="3087329"/>
          </a:xfrm>
        </p:grpSpPr>
        <p:pic>
          <p:nvPicPr>
            <p:cNvPr id="4" name="object 5">
              <a:extLst>
                <a:ext uri="{FF2B5EF4-FFF2-40B4-BE49-F238E27FC236}">
                  <a16:creationId xmlns:a16="http://schemas.microsoft.com/office/drawing/2014/main" id="{E224BA4D-7C1E-4EE3-6CBD-659FAD8B10B0}"/>
                </a:ext>
              </a:extLst>
            </p:cNvPr>
            <p:cNvPicPr/>
            <p:nvPr/>
          </p:nvPicPr>
          <p:blipFill>
            <a:blip r:embed="rId2">
              <a:extLst>
                <a:ext uri="{28A0092B-C50C-407E-A947-70E740481C1C}">
                  <a14:useLocalDpi xmlns:a14="http://schemas.microsoft.com/office/drawing/2010/main" val="0"/>
                </a:ext>
              </a:extLst>
            </a:blip>
            <a:srcRect/>
            <a:stretch/>
          </p:blipFill>
          <p:spPr>
            <a:xfrm>
              <a:off x="223839" y="749760"/>
              <a:ext cx="4124324" cy="2914244"/>
            </a:xfrm>
            <a:prstGeom prst="rect">
              <a:avLst/>
            </a:prstGeom>
          </p:spPr>
        </p:pic>
        <p:sp>
          <p:nvSpPr>
            <p:cNvPr id="5" name="object 7">
              <a:extLst>
                <a:ext uri="{FF2B5EF4-FFF2-40B4-BE49-F238E27FC236}">
                  <a16:creationId xmlns:a16="http://schemas.microsoft.com/office/drawing/2014/main" id="{2F9A7EE7-0BFC-183A-E649-D8D062D4AD5E}"/>
                </a:ext>
              </a:extLst>
            </p:cNvPr>
            <p:cNvSpPr/>
            <p:nvPr/>
          </p:nvSpPr>
          <p:spPr>
            <a:xfrm>
              <a:off x="223838" y="663218"/>
              <a:ext cx="4124325" cy="3087329"/>
            </a:xfrm>
            <a:custGeom>
              <a:avLst/>
              <a:gdLst/>
              <a:ahLst/>
              <a:cxnLst/>
              <a:rect l="l" t="t" r="r" b="b"/>
              <a:pathLst>
                <a:path w="4124325" h="2689860">
                  <a:moveTo>
                    <a:pt x="0" y="0"/>
                  </a:moveTo>
                  <a:lnTo>
                    <a:pt x="4124324" y="0"/>
                  </a:lnTo>
                  <a:lnTo>
                    <a:pt x="4124324" y="2689742"/>
                  </a:lnTo>
                  <a:lnTo>
                    <a:pt x="0" y="2689742"/>
                  </a:lnTo>
                  <a:lnTo>
                    <a:pt x="0" y="0"/>
                  </a:lnTo>
                  <a:close/>
                </a:path>
              </a:pathLst>
            </a:custGeom>
            <a:ln w="9524">
              <a:solidFill>
                <a:srgbClr val="000000"/>
              </a:solidFill>
            </a:ln>
          </p:spPr>
          <p:txBody>
            <a:bodyPr wrap="square" lIns="0" tIns="0" rIns="0" bIns="0" rtlCol="0"/>
            <a:lstStyle/>
            <a:p>
              <a:endParaRPr/>
            </a:p>
          </p:txBody>
        </p:sp>
      </p:grpSp>
      <p:sp>
        <p:nvSpPr>
          <p:cNvPr id="6" name="TextBox 5">
            <a:extLst>
              <a:ext uri="{FF2B5EF4-FFF2-40B4-BE49-F238E27FC236}">
                <a16:creationId xmlns:a16="http://schemas.microsoft.com/office/drawing/2014/main" id="{90270EA9-2E27-8D7A-7D2D-3CA349036D32}"/>
              </a:ext>
            </a:extLst>
          </p:cNvPr>
          <p:cNvSpPr txBox="1"/>
          <p:nvPr/>
        </p:nvSpPr>
        <p:spPr>
          <a:xfrm>
            <a:off x="4571999" y="628353"/>
            <a:ext cx="4467046" cy="3662541"/>
          </a:xfrm>
          <a:prstGeom prst="rect">
            <a:avLst/>
          </a:prstGeom>
          <a:noFill/>
        </p:spPr>
        <p:txBody>
          <a:bodyPr wrap="square" rtlCol="0">
            <a:spAutoFit/>
          </a:bodyPr>
          <a:lstStyle/>
          <a:p>
            <a:r>
              <a:rPr lang="en-US" sz="1100" b="1" dirty="0">
                <a:latin typeface="Times New Roman" panose="02020603050405020304" pitchFamily="18" charset="0"/>
                <a:cs typeface="Times New Roman" panose="02020603050405020304" pitchFamily="18" charset="0"/>
              </a:rPr>
              <a:t>Continent vs Country (Categorical–Categorical ):</a:t>
            </a:r>
          </a:p>
          <a:p>
            <a:pPr marL="171450" indent="-171450">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Countries are grouped under their respective continents.</a:t>
            </a:r>
          </a:p>
          <a:p>
            <a:pPr marL="171450" indent="-171450">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African countries show varying representation rather than uniform counts.</a:t>
            </a:r>
          </a:p>
          <a:p>
            <a:pPr marL="171450" indent="-171450">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Certain countries dominate the data in their continent.</a:t>
            </a:r>
          </a:p>
          <a:p>
            <a:pPr marL="171450" indent="-171450">
              <a:buFont typeface="Arial" panose="020B0604020202020204" pitchFamily="34" charset="0"/>
              <a:buChar char="•"/>
            </a:pPr>
            <a:endParaRPr lang="en-US" sz="1100" dirty="0">
              <a:latin typeface="Times New Roman" panose="02020603050405020304" pitchFamily="18" charset="0"/>
              <a:cs typeface="Times New Roman" panose="02020603050405020304" pitchFamily="18" charset="0"/>
            </a:endParaRPr>
          </a:p>
          <a:p>
            <a:r>
              <a:rPr lang="en-US" sz="1100" b="1" dirty="0">
                <a:latin typeface="Times New Roman" panose="02020603050405020304" pitchFamily="18" charset="0"/>
                <a:cs typeface="Times New Roman" panose="02020603050405020304" pitchFamily="18" charset="0"/>
              </a:rPr>
              <a:t>Continent vs Average Views (Categorical–Numerical):</a:t>
            </a:r>
          </a:p>
          <a:p>
            <a:pPr marL="171450" indent="-171450">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North America has the highest average views.</a:t>
            </a:r>
          </a:p>
          <a:p>
            <a:pPr marL="171450" indent="-171450">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Oceania and South America also show relatively high average views.</a:t>
            </a:r>
          </a:p>
          <a:p>
            <a:pPr marL="171450" indent="-171450">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Africa and Asia have comparatively lower average views.</a:t>
            </a:r>
          </a:p>
          <a:p>
            <a:pPr marL="171450" indent="-171450">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Higher representation or popularity in certain regions may influence results.</a:t>
            </a:r>
          </a:p>
          <a:p>
            <a:pPr marL="171450" indent="-171450">
              <a:buFont typeface="Arial" panose="020B0604020202020204" pitchFamily="34" charset="0"/>
              <a:buChar char="•"/>
            </a:pPr>
            <a:endParaRPr lang="en-US" sz="1100" dirty="0">
              <a:latin typeface="Times New Roman" panose="02020603050405020304" pitchFamily="18" charset="0"/>
              <a:cs typeface="Times New Roman" panose="02020603050405020304" pitchFamily="18" charset="0"/>
            </a:endParaRPr>
          </a:p>
          <a:p>
            <a:r>
              <a:rPr lang="en-US" sz="1100" b="1" dirty="0">
                <a:latin typeface="Times New Roman" panose="02020603050405020304" pitchFamily="18" charset="0"/>
                <a:cs typeface="Times New Roman" panose="02020603050405020304" pitchFamily="18" charset="0"/>
              </a:rPr>
              <a:t>Page Views vs Historical Popularity Index (Numerical–Numerical):</a:t>
            </a:r>
          </a:p>
          <a:p>
            <a:pPr marL="171450" indent="-171450">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The correlation value between page views and historical popularity index is very low.</a:t>
            </a:r>
          </a:p>
          <a:p>
            <a:pPr marL="171450" indent="-171450">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The relationship is positive but weak.</a:t>
            </a:r>
          </a:p>
          <a:p>
            <a:pPr marL="171450" indent="-171450">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Higher historical popularity does not strongly correspond to higher page views.</a:t>
            </a:r>
          </a:p>
          <a:p>
            <a:pPr marL="171450" indent="-171450">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Other factors may influence page views more significantly.</a:t>
            </a:r>
          </a:p>
          <a:p>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8238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0C22A6E-7E06-2E8C-5E42-2E0B74EDC8C3}"/>
              </a:ext>
            </a:extLst>
          </p:cNvPr>
          <p:cNvSpPr>
            <a:spLocks noGrp="1"/>
          </p:cNvSpPr>
          <p:nvPr>
            <p:ph type="title" idx="4294967295"/>
          </p:nvPr>
        </p:nvSpPr>
        <p:spPr>
          <a:xfrm>
            <a:off x="79097" y="68152"/>
            <a:ext cx="8747125" cy="738664"/>
          </a:xfrm>
        </p:spPr>
        <p:txBody>
          <a:bodyPr/>
          <a:lstStyle/>
          <a:p>
            <a:r>
              <a:rPr lang="en-IN" sz="2400" dirty="0">
                <a:latin typeface="Times New Roman" panose="02020603050405020304" pitchFamily="18" charset="0"/>
                <a:cs typeface="Times New Roman" panose="02020603050405020304" pitchFamily="18" charset="0"/>
              </a:rPr>
              <a:t>Data Analysis Through Visualizations</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Univariate Analysis</a:t>
            </a:r>
          </a:p>
        </p:txBody>
      </p:sp>
      <p:pic>
        <p:nvPicPr>
          <p:cNvPr id="11" name="Picture 10">
            <a:extLst>
              <a:ext uri="{FF2B5EF4-FFF2-40B4-BE49-F238E27FC236}">
                <a16:creationId xmlns:a16="http://schemas.microsoft.com/office/drawing/2014/main" id="{6DE506EC-A22D-DD34-3301-2ECAD01AD64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33400" y="874968"/>
            <a:ext cx="3267553" cy="2438400"/>
          </a:xfrm>
          <a:prstGeom prst="rect">
            <a:avLst/>
          </a:prstGeom>
        </p:spPr>
      </p:pic>
      <p:pic>
        <p:nvPicPr>
          <p:cNvPr id="13" name="Picture 12">
            <a:extLst>
              <a:ext uri="{FF2B5EF4-FFF2-40B4-BE49-F238E27FC236}">
                <a16:creationId xmlns:a16="http://schemas.microsoft.com/office/drawing/2014/main" id="{1F013127-CD52-B630-00CF-F8BE9B1EBEAF}"/>
              </a:ext>
            </a:extLst>
          </p:cNvPr>
          <p:cNvPicPr>
            <a:picLocks noChangeAspect="1"/>
          </p:cNvPicPr>
          <p:nvPr/>
        </p:nvPicPr>
        <p:blipFill>
          <a:blip r:embed="rId3"/>
          <a:stretch>
            <a:fillRect/>
          </a:stretch>
        </p:blipFill>
        <p:spPr>
          <a:xfrm>
            <a:off x="4863821" y="806816"/>
            <a:ext cx="3962401" cy="2438400"/>
          </a:xfrm>
          <a:prstGeom prst="rect">
            <a:avLst/>
          </a:prstGeom>
        </p:spPr>
      </p:pic>
      <p:sp>
        <p:nvSpPr>
          <p:cNvPr id="14" name="TextBox 13">
            <a:extLst>
              <a:ext uri="{FF2B5EF4-FFF2-40B4-BE49-F238E27FC236}">
                <a16:creationId xmlns:a16="http://schemas.microsoft.com/office/drawing/2014/main" id="{1FD4C375-7C94-CB12-4576-72DFBF2D34B9}"/>
              </a:ext>
            </a:extLst>
          </p:cNvPr>
          <p:cNvSpPr txBox="1"/>
          <p:nvPr/>
        </p:nvSpPr>
        <p:spPr>
          <a:xfrm>
            <a:off x="79097" y="3313368"/>
            <a:ext cx="8747125" cy="1277273"/>
          </a:xfrm>
          <a:prstGeom prst="rect">
            <a:avLst/>
          </a:prstGeom>
          <a:noFill/>
        </p:spPr>
        <p:txBody>
          <a:bodyPr wrap="square" rtlCol="0">
            <a:spAutoFit/>
          </a:bodyPr>
          <a:lstStyle/>
          <a:p>
            <a:r>
              <a:rPr lang="en-IN" sz="1100" b="1" dirty="0">
                <a:latin typeface="Times New Roman" panose="02020603050405020304" pitchFamily="18" charset="0"/>
                <a:cs typeface="Times New Roman" panose="02020603050405020304" pitchFamily="18" charset="0"/>
              </a:rPr>
              <a:t>Gender Distribution:</a:t>
            </a:r>
          </a:p>
          <a:p>
            <a:pPr marL="171450" indent="-171450">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The dataset is heavily dominated by male </a:t>
            </a:r>
            <a:r>
              <a:rPr lang="en-US" sz="1100" dirty="0" err="1">
                <a:latin typeface="Times New Roman" panose="02020603050405020304" pitchFamily="18" charset="0"/>
                <a:cs typeface="Times New Roman" panose="02020603050405020304" pitchFamily="18" charset="0"/>
              </a:rPr>
              <a:t>individuals.Female</a:t>
            </a:r>
            <a:r>
              <a:rPr lang="en-US" sz="1100" dirty="0">
                <a:latin typeface="Times New Roman" panose="02020603050405020304" pitchFamily="18" charset="0"/>
                <a:cs typeface="Times New Roman" panose="02020603050405020304" pitchFamily="18" charset="0"/>
              </a:rPr>
              <a:t> representation is very low compared to males.</a:t>
            </a:r>
          </a:p>
          <a:p>
            <a:pPr marL="171450" indent="-171450">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The dataset shows a clear gender imbalance.</a:t>
            </a:r>
          </a:p>
          <a:p>
            <a:r>
              <a:rPr lang="en-IN" sz="1100" b="1" dirty="0">
                <a:latin typeface="Times New Roman" panose="02020603050405020304" pitchFamily="18" charset="0"/>
                <a:cs typeface="Times New Roman" panose="02020603050405020304" pitchFamily="18" charset="0"/>
              </a:rPr>
              <a:t>Occupation Distribution:</a:t>
            </a:r>
          </a:p>
          <a:p>
            <a:pPr marL="171450" indent="-171450">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A few occupations appear very frequently, while most others occur less often.</a:t>
            </a:r>
          </a:p>
          <a:p>
            <a:pPr marL="171450" indent="-171450">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Professions related to philosophy, politics, religion, and writing dominate the dataset. Many occupations have relatively small counts.</a:t>
            </a:r>
          </a:p>
          <a:p>
            <a:pPr marL="171450" indent="-171450">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The dataset is skewed toward certain </a:t>
            </a:r>
            <a:r>
              <a:rPr lang="en-US" sz="1100" dirty="0" err="1">
                <a:latin typeface="Times New Roman" panose="02020603050405020304" pitchFamily="18" charset="0"/>
                <a:cs typeface="Times New Roman" panose="02020603050405020304" pitchFamily="18" charset="0"/>
              </a:rPr>
              <a:t>professions.There</a:t>
            </a:r>
            <a:r>
              <a:rPr lang="en-US" sz="1100" dirty="0">
                <a:latin typeface="Times New Roman" panose="02020603050405020304" pitchFamily="18" charset="0"/>
                <a:cs typeface="Times New Roman" panose="02020603050405020304" pitchFamily="18" charset="0"/>
              </a:rPr>
              <a:t> is an uneven representation of occupations.</a:t>
            </a:r>
          </a:p>
        </p:txBody>
      </p:sp>
    </p:spTree>
    <p:extLst>
      <p:ext uri="{BB962C8B-B14F-4D97-AF65-F5344CB8AC3E}">
        <p14:creationId xmlns:p14="http://schemas.microsoft.com/office/powerpoint/2010/main" val="2497382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FD5154E-369E-59C7-6BF4-80FED20BB688}"/>
              </a:ext>
            </a:extLst>
          </p:cNvPr>
          <p:cNvPicPr>
            <a:picLocks noChangeAspect="1"/>
          </p:cNvPicPr>
          <p:nvPr/>
        </p:nvPicPr>
        <p:blipFill>
          <a:blip r:embed="rId2"/>
          <a:stretch>
            <a:fillRect/>
          </a:stretch>
        </p:blipFill>
        <p:spPr>
          <a:xfrm>
            <a:off x="533400" y="350161"/>
            <a:ext cx="3334337" cy="2514600"/>
          </a:xfrm>
          <a:prstGeom prst="rect">
            <a:avLst/>
          </a:prstGeom>
        </p:spPr>
      </p:pic>
      <p:pic>
        <p:nvPicPr>
          <p:cNvPr id="5" name="Picture 4">
            <a:extLst>
              <a:ext uri="{FF2B5EF4-FFF2-40B4-BE49-F238E27FC236}">
                <a16:creationId xmlns:a16="http://schemas.microsoft.com/office/drawing/2014/main" id="{4211E3EF-71E3-6243-DBF0-D2BFD997CD1A}"/>
              </a:ext>
            </a:extLst>
          </p:cNvPr>
          <p:cNvPicPr>
            <a:picLocks noChangeAspect="1"/>
          </p:cNvPicPr>
          <p:nvPr/>
        </p:nvPicPr>
        <p:blipFill>
          <a:blip r:embed="rId3"/>
          <a:stretch>
            <a:fillRect/>
          </a:stretch>
        </p:blipFill>
        <p:spPr>
          <a:xfrm>
            <a:off x="5181600" y="274564"/>
            <a:ext cx="3284736" cy="2829684"/>
          </a:xfrm>
          <a:prstGeom prst="rect">
            <a:avLst/>
          </a:prstGeom>
        </p:spPr>
      </p:pic>
      <p:sp>
        <p:nvSpPr>
          <p:cNvPr id="6" name="TextBox 5">
            <a:extLst>
              <a:ext uri="{FF2B5EF4-FFF2-40B4-BE49-F238E27FC236}">
                <a16:creationId xmlns:a16="http://schemas.microsoft.com/office/drawing/2014/main" id="{0DA0DC87-A11E-05D8-ADC2-193191EA8985}"/>
              </a:ext>
            </a:extLst>
          </p:cNvPr>
          <p:cNvSpPr txBox="1"/>
          <p:nvPr/>
        </p:nvSpPr>
        <p:spPr>
          <a:xfrm>
            <a:off x="454893" y="3028950"/>
            <a:ext cx="8458200" cy="1615827"/>
          </a:xfrm>
          <a:prstGeom prst="rect">
            <a:avLst/>
          </a:prstGeom>
          <a:noFill/>
        </p:spPr>
        <p:txBody>
          <a:bodyPr wrap="square" rtlCol="0">
            <a:spAutoFit/>
          </a:bodyPr>
          <a:lstStyle/>
          <a:p>
            <a:r>
              <a:rPr lang="en-IN" sz="1100" b="1" dirty="0">
                <a:latin typeface="Times New Roman" panose="02020603050405020304" pitchFamily="18" charset="0"/>
                <a:cs typeface="Times New Roman" panose="02020603050405020304" pitchFamily="18" charset="0"/>
              </a:rPr>
              <a:t>Average Views Distribution:</a:t>
            </a:r>
          </a:p>
          <a:p>
            <a:pPr marL="171450" indent="-171450">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Most data points are concentrated at low average view values.</a:t>
            </a:r>
          </a:p>
          <a:p>
            <a:pPr marL="171450" indent="-171450">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A small number of entries have very high views. Few high-view entries act as outliers and increase overall spread</a:t>
            </a:r>
            <a:r>
              <a:rPr lang="en-US" sz="1100" dirty="0"/>
              <a:t>.</a:t>
            </a:r>
            <a:endParaRPr lang="en-US" sz="11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The distribution is right-skewed.</a:t>
            </a:r>
          </a:p>
          <a:p>
            <a:r>
              <a:rPr lang="en-US" sz="1100" b="1" dirty="0">
                <a:latin typeface="Times New Roman" panose="02020603050405020304" pitchFamily="18" charset="0"/>
                <a:cs typeface="Times New Roman" panose="02020603050405020304" pitchFamily="18" charset="0"/>
              </a:rPr>
              <a:t>Country- wise Distribution:</a:t>
            </a:r>
          </a:p>
          <a:p>
            <a:pPr marL="171450" indent="-171450">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The United States has the highest number of entries.</a:t>
            </a:r>
          </a:p>
          <a:p>
            <a:pPr marL="171450" indent="-171450">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Countries like the United Kingdom, France, Italy, and Germany also show high representation.</a:t>
            </a:r>
          </a:p>
          <a:p>
            <a:pPr marL="171450" indent="-171450">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Many countries have relatively low and similar counts.</a:t>
            </a:r>
          </a:p>
          <a:p>
            <a:pPr marL="171450" indent="-171450">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Representation across countries is uneven.</a:t>
            </a:r>
          </a:p>
        </p:txBody>
      </p:sp>
    </p:spTree>
    <p:extLst>
      <p:ext uri="{BB962C8B-B14F-4D97-AF65-F5344CB8AC3E}">
        <p14:creationId xmlns:p14="http://schemas.microsoft.com/office/powerpoint/2010/main" val="5418449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5D5814-0E1E-C499-AFC4-7C5064794DC8}"/>
              </a:ext>
            </a:extLst>
          </p:cNvPr>
          <p:cNvSpPr txBox="1"/>
          <p:nvPr/>
        </p:nvSpPr>
        <p:spPr>
          <a:xfrm>
            <a:off x="304800" y="285750"/>
            <a:ext cx="6629400"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Bivariate Analysis </a:t>
            </a:r>
          </a:p>
        </p:txBody>
      </p:sp>
      <p:pic>
        <p:nvPicPr>
          <p:cNvPr id="4" name="Picture 3">
            <a:extLst>
              <a:ext uri="{FF2B5EF4-FFF2-40B4-BE49-F238E27FC236}">
                <a16:creationId xmlns:a16="http://schemas.microsoft.com/office/drawing/2014/main" id="{DD8EF942-8110-4ED7-06F6-9AFC2C5FAE1F}"/>
              </a:ext>
            </a:extLst>
          </p:cNvPr>
          <p:cNvPicPr>
            <a:picLocks noChangeAspect="1"/>
          </p:cNvPicPr>
          <p:nvPr/>
        </p:nvPicPr>
        <p:blipFill>
          <a:blip r:embed="rId2"/>
          <a:stretch>
            <a:fillRect/>
          </a:stretch>
        </p:blipFill>
        <p:spPr>
          <a:xfrm>
            <a:off x="609600" y="1270116"/>
            <a:ext cx="4918388" cy="3210278"/>
          </a:xfrm>
          <a:prstGeom prst="rect">
            <a:avLst/>
          </a:prstGeom>
        </p:spPr>
      </p:pic>
      <p:sp>
        <p:nvSpPr>
          <p:cNvPr id="5" name="TextBox 4">
            <a:extLst>
              <a:ext uri="{FF2B5EF4-FFF2-40B4-BE49-F238E27FC236}">
                <a16:creationId xmlns:a16="http://schemas.microsoft.com/office/drawing/2014/main" id="{0203E81D-F888-53B3-0E3D-83696AB872AF}"/>
              </a:ext>
            </a:extLst>
          </p:cNvPr>
          <p:cNvSpPr txBox="1"/>
          <p:nvPr/>
        </p:nvSpPr>
        <p:spPr>
          <a:xfrm>
            <a:off x="381000" y="747415"/>
            <a:ext cx="3858768"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Numerical - Numerical</a:t>
            </a:r>
          </a:p>
        </p:txBody>
      </p:sp>
      <p:sp>
        <p:nvSpPr>
          <p:cNvPr id="6" name="TextBox 5">
            <a:extLst>
              <a:ext uri="{FF2B5EF4-FFF2-40B4-BE49-F238E27FC236}">
                <a16:creationId xmlns:a16="http://schemas.microsoft.com/office/drawing/2014/main" id="{05BB4037-EA13-64C4-9635-2B9FDA61F2EF}"/>
              </a:ext>
            </a:extLst>
          </p:cNvPr>
          <p:cNvSpPr txBox="1"/>
          <p:nvPr/>
        </p:nvSpPr>
        <p:spPr>
          <a:xfrm>
            <a:off x="5527988" y="1428750"/>
            <a:ext cx="3463612" cy="2523768"/>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Average Views vs Historical Popularity Index:</a:t>
            </a:r>
          </a:p>
          <a:p>
            <a:endParaRPr lang="en-US" sz="12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Points are widely scattered with no clear upward or downward trend.</a:t>
            </a:r>
          </a:p>
          <a:p>
            <a:pPr marL="285750"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Most data points are clustered at low average views.</a:t>
            </a:r>
          </a:p>
          <a:p>
            <a:pPr marL="285750"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A few entries show very high average views but varying popularity index values.</a:t>
            </a:r>
          </a:p>
          <a:p>
            <a:pPr marL="285750"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The relationship between average views and historical popularity is weak.</a:t>
            </a:r>
          </a:p>
          <a:p>
            <a:pPr marL="285750"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High popularity does not necessarily result in high average views.</a:t>
            </a:r>
          </a:p>
          <a:p>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54389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94EF2FF-2E6E-731A-57F2-4F135D2B9132}"/>
              </a:ext>
            </a:extLst>
          </p:cNvPr>
          <p:cNvSpPr txBox="1"/>
          <p:nvPr/>
        </p:nvSpPr>
        <p:spPr>
          <a:xfrm>
            <a:off x="228600" y="285750"/>
            <a:ext cx="4648200"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Categorical - Numerical</a:t>
            </a:r>
          </a:p>
        </p:txBody>
      </p:sp>
      <p:pic>
        <p:nvPicPr>
          <p:cNvPr id="4" name="Picture 3">
            <a:extLst>
              <a:ext uri="{FF2B5EF4-FFF2-40B4-BE49-F238E27FC236}">
                <a16:creationId xmlns:a16="http://schemas.microsoft.com/office/drawing/2014/main" id="{8515C48F-1960-4F8E-6CAD-B3CE6A5C25C0}"/>
              </a:ext>
            </a:extLst>
          </p:cNvPr>
          <p:cNvPicPr>
            <a:picLocks noChangeAspect="1"/>
          </p:cNvPicPr>
          <p:nvPr/>
        </p:nvPicPr>
        <p:blipFill>
          <a:blip r:embed="rId2"/>
          <a:stretch>
            <a:fillRect/>
          </a:stretch>
        </p:blipFill>
        <p:spPr>
          <a:xfrm>
            <a:off x="35720" y="714359"/>
            <a:ext cx="5298280" cy="3429000"/>
          </a:xfrm>
          <a:prstGeom prst="rect">
            <a:avLst/>
          </a:prstGeom>
        </p:spPr>
      </p:pic>
      <p:sp>
        <p:nvSpPr>
          <p:cNvPr id="5" name="TextBox 4">
            <a:extLst>
              <a:ext uri="{FF2B5EF4-FFF2-40B4-BE49-F238E27FC236}">
                <a16:creationId xmlns:a16="http://schemas.microsoft.com/office/drawing/2014/main" id="{02888FE3-2879-E974-EAB6-50F0525EF654}"/>
              </a:ext>
            </a:extLst>
          </p:cNvPr>
          <p:cNvSpPr txBox="1"/>
          <p:nvPr/>
        </p:nvSpPr>
        <p:spPr>
          <a:xfrm>
            <a:off x="5410200" y="742950"/>
            <a:ext cx="3581400" cy="3416320"/>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Occupation vs Average Views (Top 10):</a:t>
            </a:r>
          </a:p>
          <a:p>
            <a:endParaRPr lang="en-US" sz="12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Average views vary significantly across different occupations.</a:t>
            </a:r>
          </a:p>
          <a:p>
            <a:pPr marL="285750"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Actors, singers, and musicians show higher median average views compared to other occupations.</a:t>
            </a:r>
          </a:p>
          <a:p>
            <a:pPr marL="285750"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Occupations like philosophers, physicists, and religious figures generally have lower median views.</a:t>
            </a:r>
          </a:p>
          <a:p>
            <a:pPr marL="285750"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Many occupations show a large number of outliers, indicating extreme values.</a:t>
            </a:r>
          </a:p>
          <a:p>
            <a:pPr marL="285750"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Entertainment-related occupations tend to attract higher public attention.</a:t>
            </a:r>
          </a:p>
          <a:p>
            <a:pPr marL="285750"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Academic or philosophical professions have more consistent but lower viewership.</a:t>
            </a:r>
          </a:p>
          <a:p>
            <a:pPr marL="285750"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Wide spread in some occupations suggests unequal popularity within the same profession.</a:t>
            </a:r>
          </a:p>
        </p:txBody>
      </p:sp>
    </p:spTree>
    <p:extLst>
      <p:ext uri="{BB962C8B-B14F-4D97-AF65-F5344CB8AC3E}">
        <p14:creationId xmlns:p14="http://schemas.microsoft.com/office/powerpoint/2010/main" val="4637073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A71DAF0-7535-432E-857E-8E5F7F5FC99B}"/>
              </a:ext>
            </a:extLst>
          </p:cNvPr>
          <p:cNvSpPr txBox="1"/>
          <p:nvPr/>
        </p:nvSpPr>
        <p:spPr>
          <a:xfrm>
            <a:off x="457200" y="285750"/>
            <a:ext cx="4343400"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Categorical - Categorical</a:t>
            </a:r>
          </a:p>
        </p:txBody>
      </p:sp>
      <p:pic>
        <p:nvPicPr>
          <p:cNvPr id="4" name="Picture 3">
            <a:extLst>
              <a:ext uri="{FF2B5EF4-FFF2-40B4-BE49-F238E27FC236}">
                <a16:creationId xmlns:a16="http://schemas.microsoft.com/office/drawing/2014/main" id="{44C38622-A5BC-9B1A-DF64-6AE2C7C8B687}"/>
              </a:ext>
            </a:extLst>
          </p:cNvPr>
          <p:cNvPicPr>
            <a:picLocks noChangeAspect="1"/>
          </p:cNvPicPr>
          <p:nvPr/>
        </p:nvPicPr>
        <p:blipFill>
          <a:blip r:embed="rId2"/>
          <a:stretch>
            <a:fillRect/>
          </a:stretch>
        </p:blipFill>
        <p:spPr>
          <a:xfrm>
            <a:off x="228600" y="819150"/>
            <a:ext cx="5422959" cy="3962400"/>
          </a:xfrm>
          <a:prstGeom prst="rect">
            <a:avLst/>
          </a:prstGeom>
        </p:spPr>
      </p:pic>
      <p:sp>
        <p:nvSpPr>
          <p:cNvPr id="5" name="TextBox 4">
            <a:extLst>
              <a:ext uri="{FF2B5EF4-FFF2-40B4-BE49-F238E27FC236}">
                <a16:creationId xmlns:a16="http://schemas.microsoft.com/office/drawing/2014/main" id="{1470393B-F28D-9065-5286-F100D86B8A60}"/>
              </a:ext>
            </a:extLst>
          </p:cNvPr>
          <p:cNvSpPr txBox="1"/>
          <p:nvPr/>
        </p:nvSpPr>
        <p:spPr>
          <a:xfrm>
            <a:off x="5791200" y="819150"/>
            <a:ext cx="3276600" cy="2862322"/>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Occupation Vs Industry:</a:t>
            </a:r>
          </a:p>
          <a:p>
            <a:endParaRPr lang="en-US" sz="12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Certain occupations are strongly concentrated in specific industries.</a:t>
            </a:r>
          </a:p>
          <a:p>
            <a:pPr marL="285750"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Political roles show very high association with the Government industry.</a:t>
            </a:r>
          </a:p>
          <a:p>
            <a:pPr marL="285750"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Writers and philosophers are mainly associated with Literature and Philosophy-related industries.</a:t>
            </a:r>
          </a:p>
          <a:p>
            <a:pPr marL="285750"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Many occupation–industry combinations show very low or no occurrence.</a:t>
            </a:r>
          </a:p>
          <a:p>
            <a:pPr marL="285750"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Occupations are not randomly distributed across industries.</a:t>
            </a:r>
          </a:p>
          <a:p>
            <a:pPr marL="285750"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Clear domain specialization is visible in the data.</a:t>
            </a:r>
          </a:p>
        </p:txBody>
      </p:sp>
    </p:spTree>
    <p:extLst>
      <p:ext uri="{BB962C8B-B14F-4D97-AF65-F5344CB8AC3E}">
        <p14:creationId xmlns:p14="http://schemas.microsoft.com/office/powerpoint/2010/main" val="11270912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E35FCD-AF92-AA54-D5E7-DF933847F04D}"/>
              </a:ext>
            </a:extLst>
          </p:cNvPr>
          <p:cNvSpPr txBox="1"/>
          <p:nvPr/>
        </p:nvSpPr>
        <p:spPr>
          <a:xfrm>
            <a:off x="228600" y="285750"/>
            <a:ext cx="4495800"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Multi-variate Analysis</a:t>
            </a:r>
          </a:p>
        </p:txBody>
      </p:sp>
      <p:pic>
        <p:nvPicPr>
          <p:cNvPr id="4" name="Picture 3">
            <a:extLst>
              <a:ext uri="{FF2B5EF4-FFF2-40B4-BE49-F238E27FC236}">
                <a16:creationId xmlns:a16="http://schemas.microsoft.com/office/drawing/2014/main" id="{ECA6B872-6B40-183C-DC37-7D89D9B55638}"/>
              </a:ext>
            </a:extLst>
          </p:cNvPr>
          <p:cNvPicPr>
            <a:picLocks noChangeAspect="1"/>
          </p:cNvPicPr>
          <p:nvPr/>
        </p:nvPicPr>
        <p:blipFill>
          <a:blip r:embed="rId2"/>
          <a:stretch>
            <a:fillRect/>
          </a:stretch>
        </p:blipFill>
        <p:spPr>
          <a:xfrm>
            <a:off x="756634" y="819150"/>
            <a:ext cx="3815366" cy="3275566"/>
          </a:xfrm>
          <a:prstGeom prst="rect">
            <a:avLst/>
          </a:prstGeom>
        </p:spPr>
      </p:pic>
      <p:sp>
        <p:nvSpPr>
          <p:cNvPr id="5" name="TextBox 4">
            <a:extLst>
              <a:ext uri="{FF2B5EF4-FFF2-40B4-BE49-F238E27FC236}">
                <a16:creationId xmlns:a16="http://schemas.microsoft.com/office/drawing/2014/main" id="{BDB3F4E0-258C-FF08-B70F-10204E4CDFF7}"/>
              </a:ext>
            </a:extLst>
          </p:cNvPr>
          <p:cNvSpPr txBox="1"/>
          <p:nvPr/>
        </p:nvSpPr>
        <p:spPr>
          <a:xfrm>
            <a:off x="4876800" y="1047750"/>
            <a:ext cx="4109434" cy="2123658"/>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Occupation, Country by Average Views:</a:t>
            </a:r>
          </a:p>
          <a:p>
            <a:endParaRPr lang="en-US" sz="12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Average views for the same occupation vary significantly across countries.</a:t>
            </a:r>
          </a:p>
          <a:p>
            <a:pPr marL="285750"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Actors from certain countries show much higher average views than others.</a:t>
            </a:r>
          </a:p>
          <a:p>
            <a:pPr marL="285750"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Some occupation–country combinations have relatively low average views.</a:t>
            </a:r>
          </a:p>
          <a:p>
            <a:pPr marL="285750"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Popularity of an occupation is location-dependent.</a:t>
            </a:r>
          </a:p>
          <a:p>
            <a:pPr marL="285750"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Country plays an important role in determining visibility and reach.</a:t>
            </a:r>
          </a:p>
        </p:txBody>
      </p:sp>
    </p:spTree>
    <p:extLst>
      <p:ext uri="{BB962C8B-B14F-4D97-AF65-F5344CB8AC3E}">
        <p14:creationId xmlns:p14="http://schemas.microsoft.com/office/powerpoint/2010/main" val="6938615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E8A7A09-FB97-3561-DD17-65DFE63C5DC2}"/>
              </a:ext>
            </a:extLst>
          </p:cNvPr>
          <p:cNvPicPr>
            <a:picLocks noChangeAspect="1"/>
          </p:cNvPicPr>
          <p:nvPr/>
        </p:nvPicPr>
        <p:blipFill>
          <a:blip r:embed="rId2"/>
          <a:stretch>
            <a:fillRect/>
          </a:stretch>
        </p:blipFill>
        <p:spPr>
          <a:xfrm>
            <a:off x="381001" y="742950"/>
            <a:ext cx="3962400" cy="3153608"/>
          </a:xfrm>
          <a:prstGeom prst="rect">
            <a:avLst/>
          </a:prstGeom>
        </p:spPr>
      </p:pic>
      <p:sp>
        <p:nvSpPr>
          <p:cNvPr id="5" name="TextBox 4">
            <a:extLst>
              <a:ext uri="{FF2B5EF4-FFF2-40B4-BE49-F238E27FC236}">
                <a16:creationId xmlns:a16="http://schemas.microsoft.com/office/drawing/2014/main" id="{E0DEB64D-8E53-1546-7EB7-037FE7216266}"/>
              </a:ext>
            </a:extLst>
          </p:cNvPr>
          <p:cNvSpPr txBox="1"/>
          <p:nvPr/>
        </p:nvSpPr>
        <p:spPr>
          <a:xfrm>
            <a:off x="4572000" y="971550"/>
            <a:ext cx="4267200" cy="2492990"/>
          </a:xfrm>
          <a:prstGeom prst="rect">
            <a:avLst/>
          </a:prstGeom>
          <a:noFill/>
        </p:spPr>
        <p:txBody>
          <a:bodyPr wrap="square">
            <a:spAutoFit/>
          </a:bodyPr>
          <a:lstStyle/>
          <a:p>
            <a:r>
              <a:rPr lang="en-US" sz="1200" b="1" dirty="0">
                <a:latin typeface="Times New Roman" panose="02020603050405020304" pitchFamily="18" charset="0"/>
                <a:cs typeface="Times New Roman" panose="02020603050405020304" pitchFamily="18" charset="0"/>
              </a:rPr>
              <a:t>Average Views vs Historical Popularity index by Occupation :</a:t>
            </a:r>
          </a:p>
          <a:p>
            <a:endParaRPr lang="en-US" sz="12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Data points are densely clustered at low average views across all popularity levels.</a:t>
            </a:r>
          </a:p>
          <a:p>
            <a:pPr marL="285750"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A few individuals have very high average views, but their historical popularity varies.</a:t>
            </a:r>
          </a:p>
          <a:p>
            <a:pPr marL="285750"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No clear linear pattern is visible between average views and historical popularity.</a:t>
            </a:r>
          </a:p>
          <a:p>
            <a:pPr marL="285750"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High historical popularity does not consistently translate to high average views.</a:t>
            </a:r>
          </a:p>
          <a:p>
            <a:pPr marL="285750"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Viewership appears to be influenced by factors beyond historical significance, such as modern relevance or media exposure.</a:t>
            </a:r>
          </a:p>
        </p:txBody>
      </p:sp>
    </p:spTree>
    <p:extLst>
      <p:ext uri="{BB962C8B-B14F-4D97-AF65-F5344CB8AC3E}">
        <p14:creationId xmlns:p14="http://schemas.microsoft.com/office/powerpoint/2010/main" val="11770501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FC797F-257B-0F9B-C840-5B3C4DFEC3D9}"/>
              </a:ext>
            </a:extLst>
          </p:cNvPr>
          <p:cNvSpPr txBox="1"/>
          <p:nvPr/>
        </p:nvSpPr>
        <p:spPr>
          <a:xfrm>
            <a:off x="381000" y="361950"/>
            <a:ext cx="2895600"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Conclusion</a:t>
            </a:r>
          </a:p>
        </p:txBody>
      </p:sp>
      <p:sp>
        <p:nvSpPr>
          <p:cNvPr id="10" name="TextBox 9">
            <a:extLst>
              <a:ext uri="{FF2B5EF4-FFF2-40B4-BE49-F238E27FC236}">
                <a16:creationId xmlns:a16="http://schemas.microsoft.com/office/drawing/2014/main" id="{26585A30-CF85-059C-B778-81660A8A322E}"/>
              </a:ext>
            </a:extLst>
          </p:cNvPr>
          <p:cNvSpPr txBox="1"/>
          <p:nvPr/>
        </p:nvSpPr>
        <p:spPr>
          <a:xfrm>
            <a:off x="762000" y="1123950"/>
            <a:ext cx="7086600" cy="2308324"/>
          </a:xfrm>
          <a:prstGeom prst="rect">
            <a:avLst/>
          </a:prstGeom>
          <a:noFill/>
        </p:spPr>
        <p:txBody>
          <a:bodyPr wrap="square" rtlCol="0">
            <a:spAutoFit/>
          </a:bodyPr>
          <a:lstStyle/>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The </a:t>
            </a:r>
            <a:r>
              <a:rPr lang="en-US" sz="1600" dirty="0">
                <a:latin typeface="Times New Roman" panose="02020603050405020304" pitchFamily="18" charset="0"/>
                <a:cs typeface="Times New Roman" panose="02020603050405020304" pitchFamily="18" charset="0"/>
              </a:rPr>
              <a:t>dataset was cleaned and prepared for analysis by handling missing values, removing duplicate records.</a:t>
            </a:r>
          </a:p>
          <a:p>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Data imbalance and skewed distributions were observed.</a:t>
            </a: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Views and popularity depend on multiple factors like occupation and location.</a:t>
            </a: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dataset is clean, consistent, and analysis-ready for exploratory data analysis and further modeling.</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16452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849887" y="1388061"/>
            <a:ext cx="3349232" cy="2125736"/>
          </a:xfrm>
          <a:prstGeom prst="rect">
            <a:avLst/>
          </a:prstGeom>
        </p:spPr>
      </p:pic>
      <p:sp>
        <p:nvSpPr>
          <p:cNvPr id="3" name="object 3"/>
          <p:cNvSpPr txBox="1">
            <a:spLocks noGrp="1"/>
          </p:cNvSpPr>
          <p:nvPr>
            <p:ph type="title"/>
          </p:nvPr>
        </p:nvSpPr>
        <p:spPr>
          <a:xfrm>
            <a:off x="609601" y="2043430"/>
            <a:ext cx="2819400" cy="528320"/>
          </a:xfrm>
          <a:prstGeom prst="rect">
            <a:avLst/>
          </a:prstGeom>
        </p:spPr>
        <p:txBody>
          <a:bodyPr vert="horz" wrap="square" lIns="0" tIns="12700" rIns="0" bIns="0" rtlCol="0">
            <a:spAutoFit/>
          </a:bodyPr>
          <a:lstStyle/>
          <a:p>
            <a:pPr marL="12700">
              <a:lnSpc>
                <a:spcPct val="100000"/>
              </a:lnSpc>
              <a:spcBef>
                <a:spcPts val="100"/>
              </a:spcBef>
            </a:pPr>
            <a:r>
              <a:rPr lang="en-IN" spc="-10" dirty="0">
                <a:solidFill>
                  <a:srgbClr val="00B050"/>
                </a:solidFill>
                <a:latin typeface="Times New Roman"/>
                <a:cs typeface="Times New Roman"/>
              </a:rPr>
              <a:t>    </a:t>
            </a:r>
            <a:r>
              <a:rPr lang="en-IN" spc="-10" dirty="0">
                <a:solidFill>
                  <a:srgbClr val="C00000"/>
                </a:solidFill>
                <a:latin typeface="Times New Roman"/>
                <a:cs typeface="Times New Roman"/>
              </a:rPr>
              <a:t>Thank</a:t>
            </a:r>
            <a:r>
              <a:rPr lang="en-IN" spc="-190" dirty="0">
                <a:solidFill>
                  <a:srgbClr val="C00000"/>
                </a:solidFill>
                <a:latin typeface="Times New Roman"/>
                <a:cs typeface="Times New Roman"/>
              </a:rPr>
              <a:t> </a:t>
            </a:r>
            <a:r>
              <a:rPr lang="en-IN" spc="-75" dirty="0">
                <a:solidFill>
                  <a:srgbClr val="C00000"/>
                </a:solidFill>
                <a:latin typeface="Times New Roman"/>
                <a:cs typeface="Times New Roman"/>
              </a:rPr>
              <a:t>You</a:t>
            </a:r>
            <a:endParaRPr spc="-75" dirty="0">
              <a:solidFill>
                <a:srgbClr val="C00000"/>
              </a:solidFill>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1106</TotalTime>
  <Words>1303</Words>
  <Application>Microsoft Office PowerPoint</Application>
  <PresentationFormat>On-screen Show (16:9)</PresentationFormat>
  <Paragraphs>172</Paragraphs>
  <Slides>21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Arial MT</vt:lpstr>
      <vt:lpstr>Calibri</vt:lpstr>
      <vt:lpstr>Segoe UI Symbol</vt:lpstr>
      <vt:lpstr>Times New Roman</vt:lpstr>
      <vt:lpstr>Wingdings</vt:lpstr>
      <vt:lpstr>Office Theme</vt:lpstr>
      <vt:lpstr>HISTORICAL POPULARITY INDEX</vt:lpstr>
      <vt:lpstr>About me</vt:lpstr>
      <vt:lpstr>Dataset Overview</vt:lpstr>
      <vt:lpstr>Simple description of each column in your dataset:</vt:lpstr>
      <vt:lpstr>Reading Dataset</vt:lpstr>
      <vt:lpstr>     Phase 1 : Data Understanding </vt:lpstr>
      <vt:lpstr>Basic Checks</vt:lpstr>
      <vt:lpstr>Identify columns that require cleaning or preprocessing</vt:lpstr>
      <vt:lpstr>       Phase 2 : Data Cleaning &amp; Manipulation</vt:lpstr>
      <vt:lpstr>PowerPoint Presentation</vt:lpstr>
      <vt:lpstr>  Data Type Corrections</vt:lpstr>
      <vt:lpstr>Non Visual Bivariate Insights</vt:lpstr>
      <vt:lpstr>Data Analysis Through Visualizations Univariate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Sample EDA PPT</dc:title>
  <cp:lastModifiedBy>Meghana ch</cp:lastModifiedBy>
  <cp:revision>2</cp:revision>
  <dcterms:created xsi:type="dcterms:W3CDTF">2026-01-02T06:31:36Z</dcterms:created>
  <dcterms:modified xsi:type="dcterms:W3CDTF">2026-01-15T07:20:19Z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2026-01-02T00:00:00Z</vt:filetime>
  </property>
  <property fmtid="{D5CDD505-2E9C-101B-9397-08002B2CF9AE}" pid="3" name="Creator">
    <vt:lpwstr>Google</vt:lpwstr>
  </property>
  <property fmtid="{D5CDD505-2E9C-101B-9397-08002B2CF9AE}" pid="4" name="LastSaved">
    <vt:filetime>2026-01-02T00:00:00Z</vt:filetime>
  </property>
</Properties>
</file>